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8" r:id="rId2"/>
    <p:sldId id="287" r:id="rId3"/>
    <p:sldId id="279" r:id="rId4"/>
    <p:sldId id="280" r:id="rId5"/>
    <p:sldId id="281" r:id="rId6"/>
    <p:sldId id="282" r:id="rId7"/>
    <p:sldId id="283" r:id="rId8"/>
    <p:sldId id="284" r:id="rId9"/>
    <p:sldId id="289" r:id="rId10"/>
    <p:sldId id="28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2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551AE-56EB-BB6C-F45C-3A4DB362C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118023-B1A8-AE0C-BFFF-9709F6E1F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28FE7-F80C-65B9-D938-BC1F7E431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704D-558B-44BA-8878-61562FFA4C6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16632-FFEB-E6AF-3042-23D5F2617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5DC46-2371-905F-3B62-68F10B1F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1076-8E2A-4255-88B1-F6821B590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055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F7B90-872B-E99C-AECF-DF7733180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34E27-807B-E10C-E756-88E96236A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283FB-81BC-46FF-67DF-7A7465862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704D-558B-44BA-8878-61562FFA4C6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AC4EC-F7FA-D141-5F0F-24E0D8157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A96EE-C7DB-F71E-71BA-22ABE98E5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1076-8E2A-4255-88B1-F6821B590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92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1803-8516-934C-3E5F-039BD071E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7EB1E-D339-DAF3-C09A-339A1E625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411EF-7289-EE6D-E2C4-4CCA79E8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704D-558B-44BA-8878-61562FFA4C6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3B173-4E72-DB0E-C875-CF47EA831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9BAC2-58F4-15DE-E01E-BB37E0FE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1076-8E2A-4255-88B1-F6821B590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772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CC01-315F-885E-6611-A6D17723D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73BD1-AFDB-52C7-3279-FDF291C0D8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D6DD3-3DC1-E015-1332-A8316BF89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F266D-C0EE-D3D8-2415-06E5A2E7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704D-558B-44BA-8878-61562FFA4C6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C30D8-DCE1-81CB-9307-28121523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3665C-39AA-1650-4BEA-53542151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1076-8E2A-4255-88B1-F6821B590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48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AFD2C-50EE-01CC-4EBE-5A10D9EEE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8DAA9-DCFB-1957-9A62-AE021DED7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007E3-D603-C075-B5BE-C783A5FB5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7FEC98-D388-63FC-C5D3-5C302A95B9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64B0C3-8055-065A-9500-7616FA4304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08BE9E-DB5B-C05D-A01D-9B14D27F8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704D-558B-44BA-8878-61562FFA4C6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091E28-A946-420A-94F0-346136BA2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77474-7D0B-CF35-8635-76B59419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1076-8E2A-4255-88B1-F6821B590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8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486FA-CE55-5C96-7381-0E5E1E71D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316EC-BAB6-3633-148A-0B661E4F6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704D-558B-44BA-8878-61562FFA4C6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0A23FE-391C-209E-8844-AFA8ECF55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21847-EE5D-991B-88C5-14FD1A9ED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1076-8E2A-4255-88B1-F6821B590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35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44740E-23A5-F57F-1A7E-4AE8F8DFB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704D-558B-44BA-8878-61562FFA4C6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C116B8-2C2F-0CE6-79AE-7E8071A0D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76265-0B75-4B47-D6FD-8089267EA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1076-8E2A-4255-88B1-F6821B590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25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0106-36D6-B916-7CDB-B23E03F94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C832A-801C-AC93-41E4-CB15AA3F5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366CF-B5EC-06CD-E5FE-69C93CB02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B49FA-6A55-BE8E-73AB-235A95BF2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704D-558B-44BA-8878-61562FFA4C6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1DC44-0C15-C0D1-3CC6-260982ED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8BE3D-4B37-92DB-B863-DE9C33DF6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1076-8E2A-4255-88B1-F6821B590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78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CDA32-9C42-33DB-D337-CB7125401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D95609-3DB3-A43C-338A-6E05DF7AB1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C7F25-0638-A9D6-687A-B2D7D71C2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EAF87-3EC6-F554-4BDE-3695CC0E1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704D-558B-44BA-8878-61562FFA4C6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06C7A-A5E8-9A17-B55F-F9B3D2238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34F8D-2A57-54F2-8DB2-CB030979A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1076-8E2A-4255-88B1-F6821B590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37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FC29E-B943-791F-D652-72519DEEF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60498-A17F-8E00-9A6B-620A2BC79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92707-4E75-DD88-5719-69C06D59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704D-558B-44BA-8878-61562FFA4C6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11362-3729-D30C-68BC-DA5BCA766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48BC1-A439-9267-BDED-FFC83DA07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1076-8E2A-4255-88B1-F6821B590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7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890E18-0063-0DFA-8C8C-2B54FDE9F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E8392-5E49-10A5-CABC-E7CDCDD8D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73CA6-DF29-7374-5204-37045F6A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704D-558B-44BA-8878-61562FFA4C6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218EC-5338-2812-711F-350AA7A6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F5084-874D-F844-B035-E503F8B4B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E1076-8E2A-4255-88B1-F6821B590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66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31BE93-5762-EDE3-B8FF-7D65AB02E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4A2C8-CF30-993D-26C6-6144EA712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D2650-C398-15E4-CD15-A4ECD08BA6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1704D-558B-44BA-8878-61562FFA4C6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17946-4D23-30EA-3A65-4108503087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CA701-76F6-134D-EB68-98DF1DD91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6E1076-8E2A-4255-88B1-F6821B590AFA}" type="slidenum">
              <a:rPr lang="en-US" smtClean="0"/>
              <a:t>‹#›</a:t>
            </a:fld>
            <a:endParaRPr lang="en-US"/>
          </a:p>
        </p:txBody>
      </p:sp>
      <p:sp>
        <p:nvSpPr>
          <p:cNvPr id="9001" name="Accent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002" name="AccentDot"/>
          <p:cNvSpPr/>
          <p:nvPr userDrawn="1"/>
        </p:nvSpPr>
        <p:spPr>
          <a:xfrm>
            <a:off x="8534400" y="6400800"/>
            <a:ext cx="228600" cy="2286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3432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3A5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F2A4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F2A4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F2A4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2A4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2A4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2A44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2A44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2A44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F2A44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39234-F4DC-25BE-F702-F917348E44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6600" b="1" dirty="0">
                <a:solidFill>
                  <a:srgbClr val="1B3A5C"/>
                </a:solidFill>
              </a:rPr>
              <a:t>DataFlow</a:t>
            </a:r>
          </a:p>
          <a:p>
            <a:pPr algn="l">
              <a:spcBef>
                <a:spcPts val="300"/>
              </a:spcBef>
              <a:buNone/>
            </a:pPr>
            <a:r>
              <a:rPr lang="es-ES" sz="2400" dirty="0">
                <a:solidFill>
                  <a:srgbClr val="1F7A6F"/>
                </a:solidFill>
              </a:rPr>
              <a:t>Pipeline de Datos con Modelo Predictivo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21FF6-25B6-E774-46D9-360EDB5575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None/>
            </a:pPr>
            <a:r>
              <a:rPr lang="es-ES" sz="1800" b="1" dirty="0">
                <a:solidFill>
                  <a:srgbClr val="0F2A44"/>
                </a:solidFill>
              </a:rPr>
              <a:t>SQL y NoSQL para Analíticas de Datos</a:t>
            </a:r>
          </a:p>
          <a:p>
            <a:pPr algn="l">
              <a:buNone/>
            </a:pPr>
            <a:r>
              <a:rPr lang="es-ES" sz="1500" dirty="0">
                <a:solidFill>
                  <a:srgbClr val="0F2A44"/>
                </a:solidFill>
              </a:rPr>
              <a:t>Maestría en Ciencia de Datos · Universidad EAN</a:t>
            </a:r>
          </a:p>
          <a:p>
            <a:pPr algn="l">
              <a:spcBef>
                <a:spcPts val="600"/>
              </a:spcBef>
              <a:buNone/>
            </a:pPr>
            <a:r>
              <a:rPr lang="es-ES" sz="1400" i="1" dirty="0">
                <a:solidFill>
                  <a:srgbClr val="264653"/>
                </a:solidFill>
              </a:rPr>
              <a:t>Dataset: Olist Brazilian E-Commerce (Kaggle)</a:t>
            </a:r>
          </a:p>
        </p:txBody>
      </p:sp>
      <p:sp>
        <p:nvSpPr>
          <p:cNvPr id="200" name="badge"/>
          <p:cNvSpPr/>
          <p:nvPr/>
        </p:nvSpPr>
        <p:spPr>
          <a:xfrm>
            <a:off x="1587500" y="5715000"/>
            <a:ext cx="1651000" cy="381000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PostgreSQL 15</a:t>
            </a:r>
          </a:p>
        </p:txBody>
      </p:sp>
      <p:sp>
        <p:nvSpPr>
          <p:cNvPr id="201" name="badge"/>
          <p:cNvSpPr/>
          <p:nvPr/>
        </p:nvSpPr>
        <p:spPr>
          <a:xfrm>
            <a:off x="3429000" y="5715000"/>
            <a:ext cx="1651000" cy="381000"/>
          </a:xfrm>
          <a:prstGeom prst="roundRect">
            <a:avLst>
              <a:gd name="adj" fmla="val 30000"/>
            </a:avLst>
          </a:prstGeom>
          <a:solidFill>
            <a:srgbClr val="1F7A6F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MongoDB 7</a:t>
            </a:r>
          </a:p>
        </p:txBody>
      </p:sp>
      <p:sp>
        <p:nvSpPr>
          <p:cNvPr id="202" name="badge"/>
          <p:cNvSpPr/>
          <p:nvPr/>
        </p:nvSpPr>
        <p:spPr>
          <a:xfrm>
            <a:off x="5270500" y="5715000"/>
            <a:ext cx="1651000" cy="381000"/>
          </a:xfrm>
          <a:prstGeom prst="roundRect">
            <a:avLst>
              <a:gd name="adj" fmla="val 30000"/>
            </a:avLst>
          </a:prstGeom>
          <a:solidFill>
            <a:srgbClr val="264653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Python 3.11</a:t>
            </a:r>
          </a:p>
        </p:txBody>
      </p:sp>
      <p:sp>
        <p:nvSpPr>
          <p:cNvPr id="203" name="badge"/>
          <p:cNvSpPr/>
          <p:nvPr/>
        </p:nvSpPr>
        <p:spPr>
          <a:xfrm>
            <a:off x="7112000" y="5715000"/>
            <a:ext cx="1651000" cy="381000"/>
          </a:xfrm>
          <a:prstGeom prst="roundRect">
            <a:avLst>
              <a:gd name="adj" fmla="val 30000"/>
            </a:avLst>
          </a:prstGeom>
          <a:solidFill>
            <a:srgbClr val="B5432B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204" name="badge"/>
          <p:cNvSpPr/>
          <p:nvPr/>
        </p:nvSpPr>
        <p:spPr>
          <a:xfrm>
            <a:off x="8953500" y="5715000"/>
            <a:ext cx="1651000" cy="381000"/>
          </a:xfrm>
          <a:prstGeom prst="roundRect">
            <a:avLst>
              <a:gd name="adj" fmla="val 30000"/>
            </a:avLst>
          </a:prstGeom>
          <a:solidFill>
            <a:srgbClr val="A56B2E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730556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E349-7213-0264-B384-407AEA83F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600" b="1" dirty="0">
                <a:solidFill>
                  <a:srgbClr val="1B3A5C"/>
                </a:solidFill>
              </a:rPr>
              <a:t>Contexto y justificación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F376E-A4E1-8DC4-0998-6C41EEE4F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2000" b="1" dirty="0">
                <a:solidFill>
                  <a:srgbClr val="1F7A6F"/>
                </a:solidFill>
              </a:rPr>
              <a:t>Dominio: e-commerce brasileño (Olist)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s-ES" sz="1600" dirty="0"/>
              <a:t>~100k pedidos reales (2016–2018), 6 entidades relacionadas: clientes, vendedores, productos, pedidos, items y reseñas.</a:t>
            </a:r>
          </a:p>
          <a:p>
            <a:pPr marL="285750" indent="-285750">
              <a:buFont typeface="Arial"/>
              <a:buChar char="•"/>
            </a:pPr>
            <a:r>
              <a:rPr lang="es-ES" sz="1600" dirty="0"/>
              <a:t>Problema de negocio: predecir entrega tardía permite anticipar reclamos, ajustar promesas logísticas y reducir churn.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ES" sz="2000" b="1" dirty="0">
                <a:solidFill>
                  <a:srgbClr val="1F7A6F"/>
                </a:solidFill>
              </a:rPr>
              <a:t>¿Por qué este flujo de pipeline?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s-ES" sz="1600" b="1" dirty="0"/>
              <a:t>PostgreSQL </a:t>
            </a:r>
            <a:r>
              <a:rPr lang="es-ES" sz="1600" dirty="0"/>
              <a:t>como fuente normalizada — integridad referencial y SQL analítico sobre el modelo transaccional.</a:t>
            </a:r>
          </a:p>
          <a:p>
            <a:pPr marL="285750" indent="-285750">
              <a:buFont typeface="Arial"/>
              <a:buChar char="•"/>
            </a:pPr>
            <a:r>
              <a:rPr lang="es-ES" sz="1600" b="1" dirty="0"/>
              <a:t>MongoDB </a:t>
            </a:r>
            <a:r>
              <a:rPr lang="es-ES" sz="1600" dirty="0"/>
              <a:t>como capa analítica — un documento por pedido evita joins repetidos y entrega features listas para ML.</a:t>
            </a:r>
          </a:p>
          <a:p>
            <a:pPr marL="285750" indent="-285750">
              <a:buFont typeface="Arial"/>
              <a:buChar char="•"/>
            </a:pPr>
            <a:r>
              <a:rPr lang="es-ES" sz="1600" b="1" dirty="0"/>
              <a:t>Random Forest </a:t>
            </a:r>
            <a:r>
              <a:rPr lang="es-ES" sz="1600" dirty="0"/>
              <a:t>— robusto, interpretable vía feature importance y maneja bien el desbalance de clases.</a:t>
            </a:r>
          </a:p>
        </p:txBody>
      </p:sp>
    </p:spTree>
    <p:extLst>
      <p:ext uri="{BB962C8B-B14F-4D97-AF65-F5344CB8AC3E}">
        <p14:creationId xmlns:p14="http://schemas.microsoft.com/office/powerpoint/2010/main" val="81544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84B75-BE31-F198-3DFD-27A371525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600" b="1" dirty="0">
                <a:solidFill>
                  <a:srgbClr val="1B3A5C"/>
                </a:solidFill>
              </a:rPr>
              <a:t>Arquitectura del pipeline</a:t>
            </a:r>
          </a:p>
        </p:txBody>
      </p:sp>
      <p:sp>
        <p:nvSpPr>
          <p:cNvPr id="300" name="box"/>
          <p:cNvSpPr/>
          <p:nvPr/>
        </p:nvSpPr>
        <p:spPr>
          <a:xfrm>
            <a:off x="444500" y="2540000"/>
            <a:ext cx="1841500" cy="1397000"/>
          </a:xfrm>
          <a:prstGeom prst="roundRect">
            <a:avLst>
              <a:gd name="adj" fmla="val 12000"/>
            </a:avLst>
          </a:prstGeom>
          <a:solidFill>
            <a:srgbClr val="264653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s-ES" sz="1500" b="1" dirty="0">
                <a:solidFill>
                  <a:srgbClr val="FFFFFF"/>
                </a:solidFill>
              </a:rPr>
              <a:t>CSV Olist</a:t>
            </a:r>
          </a:p>
          <a:p>
            <a:pPr algn="ctr">
              <a:spcBef>
                <a:spcPts val="200"/>
              </a:spcBef>
              <a:buNone/>
            </a:pPr>
            <a:r>
              <a:rPr lang="es-ES" sz="1200" dirty="0">
                <a:solidFill>
                  <a:srgbClr val="FFFFFF"/>
                </a:solidFill>
              </a:rPr>
              <a:t>Fuente Kaggle</a:t>
            </a:r>
          </a:p>
        </p:txBody>
      </p:sp>
      <p:sp>
        <p:nvSpPr>
          <p:cNvPr id="301" name="box"/>
          <p:cNvSpPr/>
          <p:nvPr/>
        </p:nvSpPr>
        <p:spPr>
          <a:xfrm>
            <a:off x="2603500" y="2540000"/>
            <a:ext cx="1841500" cy="139700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s-ES" sz="1500" b="1" dirty="0">
                <a:solidFill>
                  <a:srgbClr val="FFFFFF"/>
                </a:solidFill>
              </a:rPr>
              <a:t>PostgreSQL 15</a:t>
            </a:r>
          </a:p>
          <a:p>
            <a:pPr algn="ctr">
              <a:spcBef>
                <a:spcPts val="200"/>
              </a:spcBef>
              <a:buNone/>
            </a:pPr>
            <a:r>
              <a:rPr lang="es-ES" sz="1200" dirty="0">
                <a:solidFill>
                  <a:srgbClr val="FFFFFF"/>
                </a:solidFill>
              </a:rPr>
              <a:t>6 tablas</a:t>
            </a:r>
          </a:p>
        </p:txBody>
      </p:sp>
      <p:sp>
        <p:nvSpPr>
          <p:cNvPr id="302" name="box"/>
          <p:cNvSpPr/>
          <p:nvPr/>
        </p:nvSpPr>
        <p:spPr>
          <a:xfrm>
            <a:off x="4762500" y="2540000"/>
            <a:ext cx="1841500" cy="139700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s-ES" sz="1500" b="1" dirty="0">
                <a:solidFill>
                  <a:srgbClr val="0F2A44"/>
                </a:solidFill>
              </a:rPr>
              <a:t>ETL Python</a:t>
            </a:r>
          </a:p>
          <a:p>
            <a:pPr algn="ctr">
              <a:spcBef>
                <a:spcPts val="200"/>
              </a:spcBef>
              <a:buNone/>
            </a:pPr>
            <a:r>
              <a:rPr lang="es-ES" sz="1200" dirty="0">
                <a:solidFill>
                  <a:srgbClr val="0F2A44"/>
                </a:solidFill>
              </a:rPr>
              <a:t>Limpieza + enriq.</a:t>
            </a:r>
          </a:p>
        </p:txBody>
      </p:sp>
      <p:sp>
        <p:nvSpPr>
          <p:cNvPr id="303" name="box"/>
          <p:cNvSpPr/>
          <p:nvPr/>
        </p:nvSpPr>
        <p:spPr>
          <a:xfrm>
            <a:off x="6921500" y="2540000"/>
            <a:ext cx="1841500" cy="1397000"/>
          </a:xfrm>
          <a:prstGeom prst="roundRect">
            <a:avLst>
              <a:gd name="adj" fmla="val 12000"/>
            </a:avLst>
          </a:prstGeom>
          <a:solidFill>
            <a:srgbClr val="1F7A6F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s-ES" sz="1500" b="1" dirty="0">
                <a:solidFill>
                  <a:srgbClr val="FFFFFF"/>
                </a:solidFill>
              </a:rPr>
              <a:t>MongoDB 7</a:t>
            </a:r>
          </a:p>
          <a:p>
            <a:pPr algn="ctr">
              <a:spcBef>
                <a:spcPts val="200"/>
              </a:spcBef>
              <a:buNone/>
            </a:pPr>
            <a:r>
              <a:rPr lang="es-ES" sz="1200" dirty="0">
                <a:solidFill>
                  <a:srgbClr val="FFFFFF"/>
                </a:solidFill>
              </a:rPr>
              <a:t>Doc. anidados</a:t>
            </a:r>
          </a:p>
        </p:txBody>
      </p:sp>
      <p:sp>
        <p:nvSpPr>
          <p:cNvPr id="304" name="box"/>
          <p:cNvSpPr/>
          <p:nvPr/>
        </p:nvSpPr>
        <p:spPr>
          <a:xfrm>
            <a:off x="9080500" y="2540000"/>
            <a:ext cx="1841500" cy="1397000"/>
          </a:xfrm>
          <a:prstGeom prst="roundRect">
            <a:avLst>
              <a:gd name="adj" fmla="val 12000"/>
            </a:avLst>
          </a:prstGeom>
          <a:solidFill>
            <a:srgbClr val="B5432B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s-ES" sz="1500" b="1" dirty="0">
                <a:solidFill>
                  <a:srgbClr val="FFFFFF"/>
                </a:solidFill>
              </a:rPr>
              <a:t>Random Forest</a:t>
            </a:r>
          </a:p>
          <a:p>
            <a:pPr algn="ctr">
              <a:spcBef>
                <a:spcPts val="200"/>
              </a:spcBef>
              <a:buNone/>
            </a:pPr>
            <a:r>
              <a:rPr lang="es-ES" sz="1200" dirty="0">
                <a:solidFill>
                  <a:srgbClr val="FFFFFF"/>
                </a:solidFill>
              </a:rPr>
              <a:t>Predicción</a:t>
            </a:r>
          </a:p>
        </p:txBody>
      </p:sp>
      <p:sp>
        <p:nvSpPr>
          <p:cNvPr id="305" name="arr"/>
          <p:cNvSpPr/>
          <p:nvPr/>
        </p:nvSpPr>
        <p:spPr>
          <a:xfrm>
            <a:off x="2311400" y="3048000"/>
            <a:ext cx="266700" cy="381000"/>
          </a:xfrm>
          <a:prstGeom prst="rightArrow">
            <a:avLst/>
          </a:prstGeom>
          <a:solidFill>
            <a:srgbClr val="8AB0A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6" name="arr"/>
          <p:cNvSpPr/>
          <p:nvPr/>
        </p:nvSpPr>
        <p:spPr>
          <a:xfrm>
            <a:off x="4470400" y="3048000"/>
            <a:ext cx="266700" cy="381000"/>
          </a:xfrm>
          <a:prstGeom prst="rightArrow">
            <a:avLst/>
          </a:prstGeom>
          <a:solidFill>
            <a:srgbClr val="8AB0A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7" name="arr"/>
          <p:cNvSpPr/>
          <p:nvPr/>
        </p:nvSpPr>
        <p:spPr>
          <a:xfrm>
            <a:off x="6629400" y="3048000"/>
            <a:ext cx="266700" cy="381000"/>
          </a:xfrm>
          <a:prstGeom prst="rightArrow">
            <a:avLst/>
          </a:prstGeom>
          <a:solidFill>
            <a:srgbClr val="8AB0A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8" name="arr"/>
          <p:cNvSpPr/>
          <p:nvPr/>
        </p:nvSpPr>
        <p:spPr>
          <a:xfrm>
            <a:off x="8788400" y="3048000"/>
            <a:ext cx="266700" cy="381000"/>
          </a:xfrm>
          <a:prstGeom prst="rightArrow">
            <a:avLst/>
          </a:prstGeom>
          <a:solidFill>
            <a:srgbClr val="8AB0A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0" name="lbl"/>
          <p:cNvSpPr txBox="1"/>
          <p:nvPr/>
        </p:nvSpPr>
        <p:spPr>
          <a:xfrm>
            <a:off x="381000" y="4038600"/>
            <a:ext cx="19685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s-ES" sz="1400" i="1" dirty="0">
                <a:solidFill>
                  <a:srgbClr val="264653"/>
                </a:solidFill>
              </a:rPr>
              <a:t>Datos crudos</a:t>
            </a:r>
          </a:p>
        </p:txBody>
      </p:sp>
      <p:sp>
        <p:nvSpPr>
          <p:cNvPr id="401" name="lbl"/>
          <p:cNvSpPr txBox="1"/>
          <p:nvPr/>
        </p:nvSpPr>
        <p:spPr>
          <a:xfrm>
            <a:off x="2540000" y="4038600"/>
            <a:ext cx="19685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s-ES" sz="1400" i="1" dirty="0">
                <a:solidFill>
                  <a:srgbClr val="264653"/>
                </a:solidFill>
              </a:rPr>
              <a:t>Almacenamiento relacional</a:t>
            </a:r>
          </a:p>
        </p:txBody>
      </p:sp>
      <p:sp>
        <p:nvSpPr>
          <p:cNvPr id="402" name="lbl"/>
          <p:cNvSpPr txBox="1"/>
          <p:nvPr/>
        </p:nvSpPr>
        <p:spPr>
          <a:xfrm>
            <a:off x="4699000" y="4038600"/>
            <a:ext cx="19685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s-ES" sz="1400" i="1" dirty="0">
                <a:solidFill>
                  <a:srgbClr val="264653"/>
                </a:solidFill>
              </a:rPr>
              <a:t>Transformación</a:t>
            </a:r>
          </a:p>
        </p:txBody>
      </p:sp>
      <p:sp>
        <p:nvSpPr>
          <p:cNvPr id="403" name="lbl"/>
          <p:cNvSpPr txBox="1"/>
          <p:nvPr/>
        </p:nvSpPr>
        <p:spPr>
          <a:xfrm>
            <a:off x="6858000" y="4038600"/>
            <a:ext cx="19685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s-ES" sz="1400" i="1" dirty="0">
                <a:solidFill>
                  <a:srgbClr val="264653"/>
                </a:solidFill>
              </a:rPr>
              <a:t>Almacenamiento documental</a:t>
            </a:r>
          </a:p>
        </p:txBody>
      </p:sp>
      <p:sp>
        <p:nvSpPr>
          <p:cNvPr id="404" name="lbl"/>
          <p:cNvSpPr txBox="1"/>
          <p:nvPr/>
        </p:nvSpPr>
        <p:spPr>
          <a:xfrm>
            <a:off x="9017000" y="4038600"/>
            <a:ext cx="19685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s-ES" sz="1400" i="1" dirty="0">
                <a:solidFill>
                  <a:srgbClr val="264653"/>
                </a:solidFill>
              </a:rPr>
              <a:t>Modelo predictivo</a:t>
            </a:r>
          </a:p>
        </p:txBody>
      </p:sp>
      <p:sp>
        <p:nvSpPr>
          <p:cNvPr id="309" name="arr"/>
          <p:cNvSpPr/>
          <p:nvPr/>
        </p:nvSpPr>
        <p:spPr>
          <a:xfrm>
            <a:off x="5905500" y="4826000"/>
            <a:ext cx="381000" cy="444500"/>
          </a:xfrm>
          <a:prstGeom prst="downArrow">
            <a:avLst/>
          </a:prstGeom>
          <a:solidFill>
            <a:srgbClr val="B5432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0" name="result"/>
          <p:cNvSpPr/>
          <p:nvPr/>
        </p:nvSpPr>
        <p:spPr>
          <a:xfrm>
            <a:off x="2921000" y="5461000"/>
            <a:ext cx="6350000" cy="952500"/>
          </a:xfrm>
          <a:prstGeom prst="roundRect">
            <a:avLst>
              <a:gd name="adj" fmla="val 20000"/>
            </a:avLst>
          </a:prstGeom>
          <a:solidFill>
            <a:srgbClr val="0F2A44"/>
          </a:solidFill>
          <a:ln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es-ES" sz="1500" b="1" dirty="0">
                <a:solidFill>
                  <a:srgbClr val="FFFFFF"/>
                </a:solidFill>
              </a:rPr>
              <a:t>Predicción: ¿el pedido llegará tarde?  </a:t>
            </a:r>
            <a:r>
              <a:rPr lang="es-ES" sz="1500" b="1" dirty="0">
                <a:solidFill>
                  <a:srgbClr val="1F7A6F"/>
                </a:solidFill>
              </a:rPr>
              <a:t>ACC 0.86 · AUC 0.83</a:t>
            </a:r>
          </a:p>
        </p:txBody>
      </p:sp>
    </p:spTree>
    <p:extLst>
      <p:ext uri="{BB962C8B-B14F-4D97-AF65-F5344CB8AC3E}">
        <p14:creationId xmlns:p14="http://schemas.microsoft.com/office/powerpoint/2010/main" val="2036229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649A-6E38-98B5-901B-CB92139FF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600" b="1" dirty="0">
                <a:solidFill>
                  <a:srgbClr val="1B3A5C"/>
                </a:solidFill>
              </a:rPr>
              <a:t>MER y modelo relacional</a:t>
            </a:r>
          </a:p>
        </p:txBody>
      </p:sp>
      <p:sp>
        <p:nvSpPr>
          <p:cNvPr id="600" name="ent_h"/>
          <p:cNvSpPr/>
          <p:nvPr/>
        </p:nvSpPr>
        <p:spPr>
          <a:xfrm>
            <a:off x="4191000" y="2032000"/>
            <a:ext cx="2794000" cy="2286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orders</a:t>
            </a:r>
          </a:p>
        </p:txBody>
      </p:sp>
      <p:sp>
        <p:nvSpPr>
          <p:cNvPr id="601" name="ent_b"/>
          <p:cNvSpPr/>
          <p:nvPr/>
        </p:nvSpPr>
        <p:spPr>
          <a:xfrm>
            <a:off x="4191000" y="2260600"/>
            <a:ext cx="2794000" cy="1612900"/>
          </a:xfrm>
          <a:prstGeom prst="rect">
            <a:avLst/>
          </a:prstGeom>
          <a:solidFill>
            <a:srgbClr val="FFFFFF"/>
          </a:solidFill>
          <a:ln w="9525">
            <a:solidFill>
              <a:srgbClr val="1B3A5C"/>
            </a:solidFill>
          </a:ln>
        </p:spPr>
        <p:txBody>
          <a:bodyPr wrap="square" lIns="91440" tIns="45720" rIns="45720" bIns="45720" anchor="t"/>
          <a:lstStyle/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B5432B"/>
                </a:solidFill>
              </a:rPr>
              <a:t>PK </a:t>
            </a:r>
            <a:r>
              <a:rPr lang="es-ES" sz="1100" dirty="0">
                <a:solidFill>
                  <a:srgbClr val="0F2A44"/>
                </a:solidFill>
              </a:rPr>
              <a:t>order_id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1F7A6F"/>
                </a:solidFill>
              </a:rPr>
              <a:t>FK </a:t>
            </a:r>
            <a:r>
              <a:rPr lang="es-ES" sz="1100" dirty="0">
                <a:solidFill>
                  <a:srgbClr val="0F2A44"/>
                </a:solidFill>
              </a:rPr>
              <a:t>customer_id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order_status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purchase_timestamp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delivery_timestamp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estimated_delivery</a:t>
            </a:r>
          </a:p>
        </p:txBody>
      </p:sp>
      <p:sp>
        <p:nvSpPr>
          <p:cNvPr id="602" name="ent_h"/>
          <p:cNvSpPr/>
          <p:nvPr/>
        </p:nvSpPr>
        <p:spPr>
          <a:xfrm>
            <a:off x="444500" y="2032000"/>
            <a:ext cx="2286000" cy="2286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customers</a:t>
            </a:r>
          </a:p>
        </p:txBody>
      </p:sp>
      <p:sp>
        <p:nvSpPr>
          <p:cNvPr id="603" name="ent_b"/>
          <p:cNvSpPr/>
          <p:nvPr/>
        </p:nvSpPr>
        <p:spPr>
          <a:xfrm>
            <a:off x="444500" y="2260600"/>
            <a:ext cx="2286000" cy="1041400"/>
          </a:xfrm>
          <a:prstGeom prst="rect">
            <a:avLst/>
          </a:prstGeom>
          <a:solidFill>
            <a:srgbClr val="FFFFFF"/>
          </a:solidFill>
          <a:ln w="9525">
            <a:solidFill>
              <a:srgbClr val="1F7A6F"/>
            </a:solidFill>
          </a:ln>
        </p:spPr>
        <p:txBody>
          <a:bodyPr wrap="square" lIns="91440" tIns="45720" rIns="45720" bIns="45720" anchor="t"/>
          <a:lstStyle/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B5432B"/>
                </a:solidFill>
              </a:rPr>
              <a:t>PK </a:t>
            </a:r>
            <a:r>
              <a:rPr lang="es-ES" sz="1100" dirty="0">
                <a:solidFill>
                  <a:srgbClr val="0F2A44"/>
                </a:solidFill>
              </a:rPr>
              <a:t>customer_id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customer_unique_id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zip_code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city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state</a:t>
            </a:r>
          </a:p>
        </p:txBody>
      </p:sp>
      <p:sp>
        <p:nvSpPr>
          <p:cNvPr id="604" name="ent_h"/>
          <p:cNvSpPr/>
          <p:nvPr/>
        </p:nvSpPr>
        <p:spPr>
          <a:xfrm>
            <a:off x="8509000" y="2032000"/>
            <a:ext cx="2921000" cy="228600"/>
          </a:xfrm>
          <a:prstGeom prst="rect">
            <a:avLst/>
          </a:prstGeom>
          <a:solidFill>
            <a:srgbClr val="B5432B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order_reviews</a:t>
            </a:r>
          </a:p>
        </p:txBody>
      </p:sp>
      <p:sp>
        <p:nvSpPr>
          <p:cNvPr id="605" name="ent_b"/>
          <p:cNvSpPr/>
          <p:nvPr/>
        </p:nvSpPr>
        <p:spPr>
          <a:xfrm>
            <a:off x="8509000" y="2260600"/>
            <a:ext cx="2921000" cy="1231900"/>
          </a:xfrm>
          <a:prstGeom prst="rect">
            <a:avLst/>
          </a:prstGeom>
          <a:solidFill>
            <a:srgbClr val="FFFFFF"/>
          </a:solidFill>
          <a:ln w="9525">
            <a:solidFill>
              <a:srgbClr val="B5432B"/>
            </a:solidFill>
          </a:ln>
        </p:spPr>
        <p:txBody>
          <a:bodyPr wrap="square" lIns="91440" tIns="45720" rIns="45720" bIns="45720" anchor="t"/>
          <a:lstStyle/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B5432B"/>
                </a:solidFill>
              </a:rPr>
              <a:t>PK </a:t>
            </a:r>
            <a:r>
              <a:rPr lang="es-ES" sz="1100" dirty="0">
                <a:solidFill>
                  <a:srgbClr val="0F2A44"/>
                </a:solidFill>
              </a:rPr>
              <a:t>review_id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1F7A6F"/>
                </a:solidFill>
              </a:rPr>
              <a:t>FK </a:t>
            </a:r>
            <a:r>
              <a:rPr lang="es-ES" sz="1100" dirty="0">
                <a:solidFill>
                  <a:srgbClr val="0F2A44"/>
                </a:solidFill>
              </a:rPr>
              <a:t>order_id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review_score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comment_message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creation_date</a:t>
            </a:r>
          </a:p>
        </p:txBody>
      </p:sp>
      <p:sp>
        <p:nvSpPr>
          <p:cNvPr id="606" name="ent_h"/>
          <p:cNvSpPr/>
          <p:nvPr/>
        </p:nvSpPr>
        <p:spPr>
          <a:xfrm>
            <a:off x="4191000" y="4318000"/>
            <a:ext cx="2794000" cy="228600"/>
          </a:xfrm>
          <a:prstGeom prst="rect">
            <a:avLst/>
          </a:prstGeom>
          <a:solidFill>
            <a:srgbClr val="A56B2E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order_items</a:t>
            </a:r>
          </a:p>
        </p:txBody>
      </p:sp>
      <p:sp>
        <p:nvSpPr>
          <p:cNvPr id="607" name="ent_b"/>
          <p:cNvSpPr/>
          <p:nvPr/>
        </p:nvSpPr>
        <p:spPr>
          <a:xfrm>
            <a:off x="4191000" y="4546600"/>
            <a:ext cx="2794000" cy="1041400"/>
          </a:xfrm>
          <a:prstGeom prst="rect">
            <a:avLst/>
          </a:prstGeom>
          <a:solidFill>
            <a:srgbClr val="FFFFFF"/>
          </a:solidFill>
          <a:ln w="9525">
            <a:solidFill>
              <a:srgbClr val="A56B2E"/>
            </a:solidFill>
          </a:ln>
        </p:spPr>
        <p:txBody>
          <a:bodyPr wrap="square" lIns="91440" tIns="45720" rIns="45720" bIns="45720" anchor="t"/>
          <a:lstStyle/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B5432B"/>
                </a:solidFill>
              </a:rPr>
              <a:t>PK </a:t>
            </a:r>
            <a:r>
              <a:rPr lang="es-ES" sz="1100" dirty="0">
                <a:solidFill>
                  <a:srgbClr val="0F2A44"/>
                </a:solidFill>
              </a:rPr>
              <a:t>(order_id, item_seq)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1F7A6F"/>
                </a:solidFill>
              </a:rPr>
              <a:t>FK </a:t>
            </a:r>
            <a:r>
              <a:rPr lang="es-ES" sz="1100" dirty="0">
                <a:solidFill>
                  <a:srgbClr val="0F2A44"/>
                </a:solidFill>
              </a:rPr>
              <a:t>product_id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1F7A6F"/>
                </a:solidFill>
              </a:rPr>
              <a:t>FK </a:t>
            </a:r>
            <a:r>
              <a:rPr lang="es-ES" sz="1100" dirty="0">
                <a:solidFill>
                  <a:srgbClr val="0F2A44"/>
                </a:solidFill>
              </a:rPr>
              <a:t>seller_id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price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freight_value</a:t>
            </a:r>
          </a:p>
        </p:txBody>
      </p:sp>
      <p:sp>
        <p:nvSpPr>
          <p:cNvPr id="608" name="ent_h"/>
          <p:cNvSpPr/>
          <p:nvPr/>
        </p:nvSpPr>
        <p:spPr>
          <a:xfrm>
            <a:off x="444500" y="4826000"/>
            <a:ext cx="2540000" cy="2286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products</a:t>
            </a:r>
          </a:p>
        </p:txBody>
      </p:sp>
      <p:sp>
        <p:nvSpPr>
          <p:cNvPr id="609" name="ent_b"/>
          <p:cNvSpPr/>
          <p:nvPr/>
        </p:nvSpPr>
        <p:spPr>
          <a:xfrm>
            <a:off x="444500" y="5054600"/>
            <a:ext cx="2540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264653"/>
            </a:solidFill>
          </a:ln>
        </p:spPr>
        <p:txBody>
          <a:bodyPr wrap="square" lIns="91440" tIns="45720" rIns="45720" bIns="45720" anchor="t"/>
          <a:lstStyle/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B5432B"/>
                </a:solidFill>
              </a:rPr>
              <a:t>PK </a:t>
            </a:r>
            <a:r>
              <a:rPr lang="es-ES" sz="1100" dirty="0">
                <a:solidFill>
                  <a:srgbClr val="0F2A44"/>
                </a:solidFill>
              </a:rPr>
              <a:t>product_id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category_name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weight_g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length_cm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photos_qty</a:t>
            </a:r>
          </a:p>
        </p:txBody>
      </p:sp>
      <p:sp>
        <p:nvSpPr>
          <p:cNvPr id="610" name="ent_h"/>
          <p:cNvSpPr/>
          <p:nvPr/>
        </p:nvSpPr>
        <p:spPr>
          <a:xfrm>
            <a:off x="8509000" y="4826000"/>
            <a:ext cx="2540000" cy="228600"/>
          </a:xfrm>
          <a:prstGeom prst="rect">
            <a:avLst/>
          </a:prstGeom>
          <a:solidFill>
            <a:srgbClr val="4F7570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sellers</a:t>
            </a:r>
          </a:p>
        </p:txBody>
      </p:sp>
      <p:sp>
        <p:nvSpPr>
          <p:cNvPr id="611" name="ent_b"/>
          <p:cNvSpPr/>
          <p:nvPr/>
        </p:nvSpPr>
        <p:spPr>
          <a:xfrm>
            <a:off x="8509000" y="5054600"/>
            <a:ext cx="2540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4F7570"/>
            </a:solidFill>
          </a:ln>
        </p:spPr>
        <p:txBody>
          <a:bodyPr wrap="square" lIns="91440" tIns="45720" rIns="45720" bIns="45720" anchor="t"/>
          <a:lstStyle/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B5432B"/>
                </a:solidFill>
              </a:rPr>
              <a:t>PK </a:t>
            </a:r>
            <a:r>
              <a:rPr lang="es-ES" sz="1100" dirty="0">
                <a:solidFill>
                  <a:srgbClr val="0F2A44"/>
                </a:solidFill>
              </a:rPr>
              <a:t>seller_id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zip_code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city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</a:rPr>
              <a:t>state</a:t>
            </a:r>
          </a:p>
        </p:txBody>
      </p:sp>
      <p:cxnSp>
        <p:nvCxnSpPr>
          <p:cNvPr id="612" name="ln"/>
          <p:cNvCxnSpPr/>
          <p:nvPr/>
        </p:nvCxnSpPr>
        <p:spPr>
          <a:xfrm>
            <a:off x="2730500" y="2730500"/>
            <a:ext cx="1460500" cy="12700"/>
          </a:xfrm>
          <a:prstGeom prst="line">
            <a:avLst/>
          </a:prstGeom>
          <a:ln w="19050">
            <a:solidFill>
              <a:srgbClr val="8AB0AB"/>
            </a:solidFill>
          </a:ln>
        </p:spPr>
      </p:cxnSp>
      <p:sp>
        <p:nvSpPr>
          <p:cNvPr id="613" name="card"/>
          <p:cNvSpPr txBox="1"/>
          <p:nvPr/>
        </p:nvSpPr>
        <p:spPr>
          <a:xfrm>
            <a:off x="2857500" y="2540000"/>
            <a:ext cx="381000" cy="254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B3A5C"/>
                </a:solidFill>
              </a:rPr>
              <a:t>1</a:t>
            </a:r>
          </a:p>
        </p:txBody>
      </p:sp>
      <p:sp>
        <p:nvSpPr>
          <p:cNvPr id="614" name="card"/>
          <p:cNvSpPr txBox="1"/>
          <p:nvPr/>
        </p:nvSpPr>
        <p:spPr>
          <a:xfrm>
            <a:off x="3746500" y="2540000"/>
            <a:ext cx="381000" cy="254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B3A5C"/>
                </a:solidFill>
              </a:rPr>
              <a:t>N</a:t>
            </a:r>
          </a:p>
        </p:txBody>
      </p:sp>
      <p:cxnSp>
        <p:nvCxnSpPr>
          <p:cNvPr id="615" name="ln"/>
          <p:cNvCxnSpPr/>
          <p:nvPr/>
        </p:nvCxnSpPr>
        <p:spPr>
          <a:xfrm>
            <a:off x="6985000" y="2730500"/>
            <a:ext cx="1524000" cy="12700"/>
          </a:xfrm>
          <a:prstGeom prst="line">
            <a:avLst/>
          </a:prstGeom>
          <a:ln w="19050">
            <a:solidFill>
              <a:srgbClr val="8AB0AB"/>
            </a:solidFill>
          </a:ln>
        </p:spPr>
      </p:cxnSp>
      <p:sp>
        <p:nvSpPr>
          <p:cNvPr id="616" name="card"/>
          <p:cNvSpPr txBox="1"/>
          <p:nvPr/>
        </p:nvSpPr>
        <p:spPr>
          <a:xfrm>
            <a:off x="7112000" y="2540000"/>
            <a:ext cx="381000" cy="254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B3A5C"/>
                </a:solidFill>
              </a:rPr>
              <a:t>1</a:t>
            </a:r>
          </a:p>
        </p:txBody>
      </p:sp>
      <p:sp>
        <p:nvSpPr>
          <p:cNvPr id="617" name="card"/>
          <p:cNvSpPr txBox="1"/>
          <p:nvPr/>
        </p:nvSpPr>
        <p:spPr>
          <a:xfrm>
            <a:off x="8064500" y="2540000"/>
            <a:ext cx="381000" cy="254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B3A5C"/>
                </a:solidFill>
              </a:rPr>
              <a:t>1</a:t>
            </a:r>
          </a:p>
        </p:txBody>
      </p:sp>
      <p:cxnSp>
        <p:nvCxnSpPr>
          <p:cNvPr id="618" name="ln"/>
          <p:cNvCxnSpPr/>
          <p:nvPr/>
        </p:nvCxnSpPr>
        <p:spPr>
          <a:xfrm>
            <a:off x="5588000" y="3873500"/>
            <a:ext cx="12700" cy="444500"/>
          </a:xfrm>
          <a:prstGeom prst="line">
            <a:avLst/>
          </a:prstGeom>
          <a:ln w="19050">
            <a:solidFill>
              <a:srgbClr val="8AB0AB"/>
            </a:solidFill>
          </a:ln>
        </p:spPr>
      </p:cxnSp>
      <p:sp>
        <p:nvSpPr>
          <p:cNvPr id="619" name="card"/>
          <p:cNvSpPr txBox="1"/>
          <p:nvPr/>
        </p:nvSpPr>
        <p:spPr>
          <a:xfrm>
            <a:off x="5905500" y="3873500"/>
            <a:ext cx="381000" cy="254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B3A5C"/>
                </a:solidFill>
              </a:rPr>
              <a:t>1</a:t>
            </a:r>
          </a:p>
        </p:txBody>
      </p:sp>
      <p:sp>
        <p:nvSpPr>
          <p:cNvPr id="620" name="card"/>
          <p:cNvSpPr txBox="1"/>
          <p:nvPr/>
        </p:nvSpPr>
        <p:spPr>
          <a:xfrm>
            <a:off x="5905500" y="4127500"/>
            <a:ext cx="381000" cy="254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B3A5C"/>
                </a:solidFill>
              </a:rPr>
              <a:t>N</a:t>
            </a:r>
          </a:p>
        </p:txBody>
      </p:sp>
      <p:cxnSp>
        <p:nvCxnSpPr>
          <p:cNvPr id="621" name="ln"/>
          <p:cNvCxnSpPr/>
          <p:nvPr/>
        </p:nvCxnSpPr>
        <p:spPr>
          <a:xfrm flipH="1">
            <a:off x="2984500" y="4953000"/>
            <a:ext cx="1206500" cy="254000"/>
          </a:xfrm>
          <a:prstGeom prst="line">
            <a:avLst/>
          </a:prstGeom>
          <a:ln w="19050">
            <a:solidFill>
              <a:srgbClr val="8AB0AB"/>
            </a:solidFill>
          </a:ln>
        </p:spPr>
      </p:cxnSp>
      <p:sp>
        <p:nvSpPr>
          <p:cNvPr id="622" name="card"/>
          <p:cNvSpPr txBox="1"/>
          <p:nvPr/>
        </p:nvSpPr>
        <p:spPr>
          <a:xfrm>
            <a:off x="3111500" y="5016500"/>
            <a:ext cx="381000" cy="254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B3A5C"/>
                </a:solidFill>
              </a:rPr>
              <a:t>1</a:t>
            </a:r>
          </a:p>
        </p:txBody>
      </p:sp>
      <p:sp>
        <p:nvSpPr>
          <p:cNvPr id="623" name="card"/>
          <p:cNvSpPr txBox="1"/>
          <p:nvPr/>
        </p:nvSpPr>
        <p:spPr>
          <a:xfrm>
            <a:off x="3911600" y="4826000"/>
            <a:ext cx="381000" cy="254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B3A5C"/>
                </a:solidFill>
              </a:rPr>
              <a:t>N</a:t>
            </a:r>
          </a:p>
        </p:txBody>
      </p:sp>
      <p:cxnSp>
        <p:nvCxnSpPr>
          <p:cNvPr id="624" name="ln"/>
          <p:cNvCxnSpPr/>
          <p:nvPr/>
        </p:nvCxnSpPr>
        <p:spPr>
          <a:xfrm>
            <a:off x="6985000" y="4953000"/>
            <a:ext cx="1524000" cy="254000"/>
          </a:xfrm>
          <a:prstGeom prst="line">
            <a:avLst/>
          </a:prstGeom>
          <a:ln w="19050">
            <a:solidFill>
              <a:srgbClr val="8AB0AB"/>
            </a:solidFill>
          </a:ln>
        </p:spPr>
      </p:cxnSp>
      <p:sp>
        <p:nvSpPr>
          <p:cNvPr id="625" name="card"/>
          <p:cNvSpPr txBox="1"/>
          <p:nvPr/>
        </p:nvSpPr>
        <p:spPr>
          <a:xfrm>
            <a:off x="7048500" y="4826000"/>
            <a:ext cx="381000" cy="254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B3A5C"/>
                </a:solidFill>
              </a:rPr>
              <a:t>N</a:t>
            </a:r>
          </a:p>
        </p:txBody>
      </p:sp>
      <p:sp>
        <p:nvSpPr>
          <p:cNvPr id="626" name="card"/>
          <p:cNvSpPr txBox="1"/>
          <p:nvPr/>
        </p:nvSpPr>
        <p:spPr>
          <a:xfrm>
            <a:off x="8128000" y="5016500"/>
            <a:ext cx="381000" cy="254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B3A5C"/>
                </a:solidFill>
              </a:rPr>
              <a:t>1</a:t>
            </a:r>
          </a:p>
        </p:txBody>
      </p:sp>
      <p:sp>
        <p:nvSpPr>
          <p:cNvPr id="627" name="legend"/>
          <p:cNvSpPr txBox="1"/>
          <p:nvPr/>
        </p:nvSpPr>
        <p:spPr>
          <a:xfrm>
            <a:off x="444500" y="6286500"/>
            <a:ext cx="11303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sz="1400" b="1" dirty="0">
                <a:solidFill>
                  <a:srgbClr val="B5432B"/>
                </a:solidFill>
              </a:rPr>
              <a:t>PK </a:t>
            </a:r>
            <a:r>
              <a:rPr lang="es-ES" sz="1400" dirty="0">
                <a:solidFill>
                  <a:srgbClr val="0F2A44"/>
                </a:solidFill>
              </a:rPr>
              <a:t>Primary Key   </a:t>
            </a:r>
            <a:r>
              <a:rPr lang="es-ES" sz="1400" b="1" dirty="0">
                <a:solidFill>
                  <a:srgbClr val="1F7A6F"/>
                </a:solidFill>
              </a:rPr>
              <a:t>FK </a:t>
            </a:r>
            <a:r>
              <a:rPr lang="es-ES" sz="1400" dirty="0">
                <a:solidFill>
                  <a:srgbClr val="0F2A44"/>
                </a:solidFill>
              </a:rPr>
              <a:t>Foreign Key   |   6 tablas normalizadas en PostgreSQL 15</a:t>
            </a:r>
          </a:p>
        </p:txBody>
      </p:sp>
    </p:spTree>
    <p:extLst>
      <p:ext uri="{BB962C8B-B14F-4D97-AF65-F5344CB8AC3E}">
        <p14:creationId xmlns:p14="http://schemas.microsoft.com/office/powerpoint/2010/main" val="44670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B841D-1C09-CCC9-6561-9D8EDC07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600" b="1" dirty="0">
                <a:solidFill>
                  <a:srgbClr val="1B3A5C"/>
                </a:solidFill>
              </a:rPr>
              <a:t>Proceso ETL</a:t>
            </a:r>
          </a:p>
          <a:p>
            <a:pPr algn="l">
              <a:buNone/>
            </a:pPr>
            <a:r>
              <a:rPr lang="es-ES" sz="1600" i="1" dirty="0">
                <a:solidFill>
                  <a:srgbClr val="1F7A6F"/>
                </a:solidFill>
              </a:rPr>
              <a:t>etl/pipeline_etl.ipynb — Python + SQLAlchemy + PyMongo</a:t>
            </a:r>
          </a:p>
        </p:txBody>
      </p:sp>
      <p:sp>
        <p:nvSpPr>
          <p:cNvPr id="700" name="col_h"/>
          <p:cNvSpPr/>
          <p:nvPr/>
        </p:nvSpPr>
        <p:spPr>
          <a:xfrm>
            <a:off x="381000" y="2476500"/>
            <a:ext cx="3683000" cy="635000"/>
          </a:xfrm>
          <a:prstGeom prst="roundRect">
            <a:avLst>
              <a:gd name="adj" fmla="val 15000"/>
            </a:avLst>
          </a:prstGeom>
          <a:solidFill>
            <a:srgbClr val="264653"/>
          </a:solidFill>
          <a:ln>
            <a:noFill/>
          </a:ln>
        </p:spPr>
        <p:txBody>
          <a:bodyPr wrap="square" lIns="91440" tIns="45720" rIns="45720" bIns="45720" anchor="ctr"/>
          <a:lstStyle/>
          <a:p>
            <a:pPr algn="l">
              <a:buNone/>
            </a:pPr>
            <a:r>
              <a:rPr lang="es-ES" sz="2400" b="1" dirty="0">
                <a:solidFill>
                  <a:srgbClr val="FFFFFF"/>
                </a:solidFill>
              </a:rPr>
              <a:t>E  </a:t>
            </a:r>
            <a:r>
              <a:rPr lang="es-ES" sz="1800" b="1" dirty="0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701" name="col_b"/>
          <p:cNvSpPr/>
          <p:nvPr/>
        </p:nvSpPr>
        <p:spPr>
          <a:xfrm>
            <a:off x="381000" y="3175000"/>
            <a:ext cx="3683000" cy="336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64653"/>
            </a:solidFill>
          </a:ln>
        </p:spPr>
        <p:txBody>
          <a:bodyPr wrap="square" lIns="91440" tIns="91440" rIns="91440" bIns="91440" anchor="t"/>
          <a:lstStyle/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Lectura de PostgreSQL con SQLAlchemy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JOIN entre las 6 tablas (orders, customers, items, products, sellers, reviews)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DataFrame consolidado en pandas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~96 mil pedidos procesados</a:t>
            </a:r>
          </a:p>
        </p:txBody>
      </p:sp>
      <p:sp>
        <p:nvSpPr>
          <p:cNvPr id="702" name="col_h"/>
          <p:cNvSpPr/>
          <p:nvPr/>
        </p:nvSpPr>
        <p:spPr>
          <a:xfrm>
            <a:off x="4254500" y="2476500"/>
            <a:ext cx="3683000" cy="635000"/>
          </a:xfrm>
          <a:prstGeom prst="roundRect">
            <a:avLst>
              <a:gd name="adj" fmla="val 15000"/>
            </a:avLst>
          </a:prstGeom>
          <a:solidFill>
            <a:srgbClr val="A56B2E"/>
          </a:solidFill>
          <a:ln>
            <a:noFill/>
          </a:ln>
        </p:spPr>
        <p:txBody>
          <a:bodyPr wrap="square" lIns="91440" tIns="45720" rIns="45720" bIns="45720" anchor="ctr"/>
          <a:lstStyle/>
          <a:p>
            <a:pPr algn="l">
              <a:buNone/>
            </a:pPr>
            <a:r>
              <a:rPr lang="es-ES" sz="2400" b="1" dirty="0">
                <a:solidFill>
                  <a:srgbClr val="FFFFFF"/>
                </a:solidFill>
              </a:rPr>
              <a:t>T  </a:t>
            </a:r>
            <a:r>
              <a:rPr lang="es-ES" sz="1800" b="1" dirty="0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703" name="col_b"/>
          <p:cNvSpPr/>
          <p:nvPr/>
        </p:nvSpPr>
        <p:spPr>
          <a:xfrm>
            <a:off x="4254500" y="3175000"/>
            <a:ext cx="3683000" cy="336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56B2E"/>
            </a:solidFill>
          </a:ln>
        </p:spPr>
        <p:txBody>
          <a:bodyPr wrap="square" lIns="91440" tIns="91440" rIns="91440" bIns="91440" anchor="t"/>
          <a:lstStyle/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Limpieza: nulos, tipos de datos, duplicados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Feature engineering: días prometidos, retraso real, volumen cm³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Etiqueta objetivo: entrega_tardia (1/0)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Validación de rangos y consistencia</a:t>
            </a:r>
          </a:p>
        </p:txBody>
      </p:sp>
      <p:sp>
        <p:nvSpPr>
          <p:cNvPr id="704" name="col_h"/>
          <p:cNvSpPr/>
          <p:nvPr/>
        </p:nvSpPr>
        <p:spPr>
          <a:xfrm>
            <a:off x="8128000" y="2476500"/>
            <a:ext cx="3683000" cy="635000"/>
          </a:xfrm>
          <a:prstGeom prst="roundRect">
            <a:avLst>
              <a:gd name="adj" fmla="val 15000"/>
            </a:avLst>
          </a:prstGeom>
          <a:solidFill>
            <a:srgbClr val="1F7A6F"/>
          </a:solidFill>
          <a:ln>
            <a:noFill/>
          </a:ln>
        </p:spPr>
        <p:txBody>
          <a:bodyPr wrap="square" lIns="91440" tIns="45720" rIns="45720" bIns="45720" anchor="ctr"/>
          <a:lstStyle/>
          <a:p>
            <a:pPr algn="l">
              <a:buNone/>
            </a:pPr>
            <a:r>
              <a:rPr lang="es-ES" sz="2400" b="1" dirty="0">
                <a:solidFill>
                  <a:srgbClr val="FFFFFF"/>
                </a:solidFill>
              </a:rPr>
              <a:t>L  </a:t>
            </a:r>
            <a:r>
              <a:rPr lang="es-ES" sz="1800" b="1" dirty="0">
                <a:solidFill>
                  <a:srgbClr val="FFFFFF"/>
                </a:solidFill>
              </a:rPr>
              <a:t>Load</a:t>
            </a:r>
          </a:p>
        </p:txBody>
      </p:sp>
      <p:sp>
        <p:nvSpPr>
          <p:cNvPr id="705" name="col_b"/>
          <p:cNvSpPr/>
          <p:nvPr/>
        </p:nvSpPr>
        <p:spPr>
          <a:xfrm>
            <a:off x="8128000" y="3175000"/>
            <a:ext cx="3683000" cy="336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F7A6F"/>
            </a:solidFill>
          </a:ln>
        </p:spPr>
        <p:txBody>
          <a:bodyPr wrap="square" lIns="91440" tIns="91440" rIns="91440" bIns="91440" anchor="t"/>
          <a:lstStyle/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Conexión a MongoDB con PyMongo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Construcción de documentos anidados por pedido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Carga masiva en colección pedidos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Verificación de conteo y muestreo</a:t>
            </a:r>
          </a:p>
        </p:txBody>
      </p:sp>
    </p:spTree>
    <p:extLst>
      <p:ext uri="{BB962C8B-B14F-4D97-AF65-F5344CB8AC3E}">
        <p14:creationId xmlns:p14="http://schemas.microsoft.com/office/powerpoint/2010/main" val="2719933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1A52B-E5CC-DAA8-D474-38681030F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600" b="1" dirty="0">
                <a:solidFill>
                  <a:srgbClr val="1B3A5C"/>
                </a:solidFill>
              </a:rPr>
              <a:t>MongoDB — documentos cargados</a:t>
            </a:r>
          </a:p>
          <a:p>
            <a:pPr algn="l">
              <a:buNone/>
            </a:pPr>
            <a:r>
              <a:rPr lang="es-ES" sz="1600" i="1" dirty="0">
                <a:solidFill>
                  <a:srgbClr val="1F7A6F"/>
                </a:solidFill>
              </a:rPr>
              <a:t>db.dataflow.pedidos — un documento por pedido con estructura anidada</a:t>
            </a:r>
          </a:p>
        </p:txBody>
      </p:sp>
      <p:sp>
        <p:nvSpPr>
          <p:cNvPr id="800" name="json"/>
          <p:cNvSpPr/>
          <p:nvPr/>
        </p:nvSpPr>
        <p:spPr>
          <a:xfrm>
            <a:off x="381000" y="2476500"/>
            <a:ext cx="71120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A9D8F"/>
            </a:solidFill>
          </a:ln>
        </p:spPr>
        <p:txBody>
          <a:bodyPr wrap="square" lIns="91440" tIns="91440" rIns="45720" bIns="91440" anchor="t"/>
          <a:lstStyle/>
          <a:p>
            <a:pPr marL="0" indent="0">
              <a:spcBef>
                <a:spcPts val="0"/>
              </a:spcBef>
              <a:buNone/>
            </a:pPr>
            <a:r>
              <a:rPr lang="es-ES" sz="1200" dirty="0">
                <a:solidFill>
                  <a:srgbClr val="0F2A44"/>
                </a:solidFill>
                <a:latin typeface="Consolas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>
                <a:solidFill>
                  <a:srgbClr val="264653"/>
                </a:solidFill>
                <a:latin typeface="Consolas"/>
              </a:rPr>
              <a:t>  "_id": "abc123...",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>
                <a:solidFill>
                  <a:srgbClr val="264653"/>
                </a:solidFill>
                <a:latin typeface="Consolas"/>
              </a:rPr>
              <a:t>  "order_status": "delivered",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b="1" dirty="0">
                <a:solidFill>
                  <a:srgbClr val="1B3A5C"/>
                </a:solidFill>
                <a:latin typeface="Consolas"/>
              </a:rPr>
              <a:t>  "cliente":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>
                <a:solidFill>
                  <a:srgbClr val="264653"/>
                </a:solidFill>
                <a:latin typeface="Consolas"/>
              </a:rPr>
              <a:t>    "customer_id": "...", "estado": "SP"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b="1" dirty="0">
                <a:solidFill>
                  <a:srgbClr val="1B3A5C"/>
                </a:solidFill>
                <a:latin typeface="Consolas"/>
              </a:rPr>
              <a:t>  },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b="1" dirty="0">
                <a:solidFill>
                  <a:srgbClr val="1B3A5C"/>
                </a:solidFill>
                <a:latin typeface="Consolas"/>
              </a:rPr>
              <a:t>  "vendedor": { "seller_id": "...", "estado": "RJ" },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b="1" dirty="0">
                <a:solidFill>
                  <a:srgbClr val="1B3A5C"/>
                </a:solidFill>
                <a:latin typeface="Consolas"/>
              </a:rPr>
              <a:t>  "producto":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>
                <a:solidFill>
                  <a:srgbClr val="264653"/>
                </a:solidFill>
                <a:latin typeface="Consolas"/>
              </a:rPr>
              <a:t>    "categoria": "cama_mesa_banho",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>
                <a:solidFill>
                  <a:srgbClr val="264653"/>
                </a:solidFill>
                <a:latin typeface="Consolas"/>
              </a:rPr>
              <a:t>    "peso_g": 650, "volumen_cm3": 2400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b="1" dirty="0">
                <a:solidFill>
                  <a:srgbClr val="1B3A5C"/>
                </a:solidFill>
                <a:latin typeface="Consolas"/>
              </a:rPr>
              <a:t>  },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b="1" dirty="0">
                <a:solidFill>
                  <a:srgbClr val="1B3A5C"/>
                </a:solidFill>
                <a:latin typeface="Consolas"/>
              </a:rPr>
              <a:t>  "pago": { "valor": 89.50, "tipo": "credit_card" },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b="1" dirty="0">
                <a:solidFill>
                  <a:srgbClr val="1B3A5C"/>
                </a:solidFill>
                <a:latin typeface="Consolas"/>
              </a:rPr>
              <a:t>  "entrega":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>
                <a:solidFill>
                  <a:srgbClr val="264653"/>
                </a:solidFill>
                <a:latin typeface="Consolas"/>
              </a:rPr>
              <a:t>    "dias_prometidos": 12, "dias_reales": 9,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>
                <a:solidFill>
                  <a:srgbClr val="264653"/>
                </a:solidFill>
                <a:latin typeface="Consolas"/>
              </a:rPr>
              <a:t>    "entrega_tardia":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b="1" dirty="0">
                <a:solidFill>
                  <a:srgbClr val="1B3A5C"/>
                </a:solidFill>
                <a:latin typeface="Consolas"/>
              </a:rPr>
              <a:t>  },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b="1" dirty="0">
                <a:solidFill>
                  <a:srgbClr val="1B3A5C"/>
                </a:solidFill>
                <a:latin typeface="Consolas"/>
              </a:rPr>
              <a:t>  "resena": { "score": 5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200" dirty="0">
                <a:solidFill>
                  <a:srgbClr val="0F2A44"/>
                </a:solidFill>
                <a:latin typeface="Consolas"/>
              </a:rPr>
              <a:t>}</a:t>
            </a:r>
          </a:p>
        </p:txBody>
      </p:sp>
      <p:sp>
        <p:nvSpPr>
          <p:cNvPr id="801" name="kpi"/>
          <p:cNvSpPr/>
          <p:nvPr/>
        </p:nvSpPr>
        <p:spPr>
          <a:xfrm>
            <a:off x="7747000" y="2476500"/>
            <a:ext cx="4064000" cy="101600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l">
              <a:buNone/>
            </a:pPr>
            <a:r>
              <a:rPr lang="es-ES" sz="2600" b="1" dirty="0">
                <a:solidFill>
                  <a:srgbClr val="FFFFFF"/>
                </a:solidFill>
              </a:rPr>
              <a:t>96 470</a:t>
            </a:r>
          </a:p>
          <a:p>
            <a:pPr algn="l">
              <a:buNone/>
            </a:pPr>
            <a:r>
              <a:rPr lang="es-ES" sz="1300" dirty="0">
                <a:solidFill>
                  <a:srgbClr val="FFFFFF"/>
                </a:solidFill>
              </a:rPr>
              <a:t>documentos en la colección</a:t>
            </a:r>
          </a:p>
        </p:txBody>
      </p:sp>
      <p:sp>
        <p:nvSpPr>
          <p:cNvPr id="802" name="kpi"/>
          <p:cNvSpPr/>
          <p:nvPr/>
        </p:nvSpPr>
        <p:spPr>
          <a:xfrm>
            <a:off x="7747000" y="3619500"/>
            <a:ext cx="1968500" cy="1016000"/>
          </a:xfrm>
          <a:prstGeom prst="roundRect">
            <a:avLst>
              <a:gd name="adj" fmla="val 10000"/>
            </a:avLst>
          </a:prstGeom>
          <a:solidFill>
            <a:srgbClr val="1F7A6F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l">
              <a:buNone/>
            </a:pPr>
            <a:r>
              <a:rPr lang="es-ES" sz="2600" b="1" dirty="0">
                <a:solidFill>
                  <a:srgbClr val="FFFFFF"/>
                </a:solidFill>
              </a:rPr>
              <a:t>91.9%</a:t>
            </a:r>
          </a:p>
          <a:p>
            <a:pPr algn="l">
              <a:buNone/>
            </a:pPr>
            <a:r>
              <a:rPr lang="es-ES" sz="1300" dirty="0">
                <a:solidFill>
                  <a:srgbClr val="FFFFFF"/>
                </a:solidFill>
              </a:rPr>
              <a:t>a tiempo</a:t>
            </a:r>
          </a:p>
        </p:txBody>
      </p:sp>
      <p:sp>
        <p:nvSpPr>
          <p:cNvPr id="803" name="kpi"/>
          <p:cNvSpPr/>
          <p:nvPr/>
        </p:nvSpPr>
        <p:spPr>
          <a:xfrm>
            <a:off x="9842500" y="3619500"/>
            <a:ext cx="1968500" cy="1016000"/>
          </a:xfrm>
          <a:prstGeom prst="roundRect">
            <a:avLst>
              <a:gd name="adj" fmla="val 10000"/>
            </a:avLst>
          </a:prstGeom>
          <a:solidFill>
            <a:srgbClr val="B5432B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l">
              <a:buNone/>
            </a:pPr>
            <a:r>
              <a:rPr lang="es-ES" sz="2600" b="1" dirty="0">
                <a:solidFill>
                  <a:srgbClr val="FFFFFF"/>
                </a:solidFill>
              </a:rPr>
              <a:t>8.1%</a:t>
            </a:r>
          </a:p>
          <a:p>
            <a:pPr algn="l">
              <a:buNone/>
            </a:pPr>
            <a:r>
              <a:rPr lang="es-ES" sz="1300" dirty="0">
                <a:solidFill>
                  <a:srgbClr val="FFFFFF"/>
                </a:solidFill>
              </a:rPr>
              <a:t>tardíos</a:t>
            </a:r>
          </a:p>
        </p:txBody>
      </p:sp>
      <p:sp>
        <p:nvSpPr>
          <p:cNvPr id="804" name="struct"/>
          <p:cNvSpPr/>
          <p:nvPr/>
        </p:nvSpPr>
        <p:spPr>
          <a:xfrm>
            <a:off x="7747000" y="4762500"/>
            <a:ext cx="4064000" cy="17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B3A5C"/>
            </a:solidFill>
          </a:ln>
        </p:spPr>
        <p:txBody>
          <a:bodyPr wrap="square" lIns="91440" tIns="68580" rIns="91440" bIns="68580" anchor="t"/>
          <a:lstStyle/>
          <a:p>
            <a:pPr marL="0" indent="0">
              <a:buNone/>
            </a:pPr>
            <a:r>
              <a:rPr lang="es-ES" sz="1300" b="1" dirty="0">
                <a:solidFill>
                  <a:srgbClr val="1B3A5C"/>
                </a:solidFill>
              </a:rPr>
              <a:t>Subdocumentos: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1200" dirty="0">
                <a:solidFill>
                  <a:srgbClr val="0F2A44"/>
                </a:solidFill>
              </a:rPr>
              <a:t>cliente · vendedor · producto</a:t>
            </a:r>
          </a:p>
          <a:p>
            <a:pPr marL="0" indent="0">
              <a:buNone/>
            </a:pPr>
            <a:r>
              <a:rPr lang="es-ES" sz="1200" dirty="0">
                <a:solidFill>
                  <a:srgbClr val="0F2A44"/>
                </a:solidFill>
              </a:rPr>
              <a:t>pago · entrega · reseña</a:t>
            </a:r>
          </a:p>
        </p:txBody>
      </p:sp>
    </p:spTree>
    <p:extLst>
      <p:ext uri="{BB962C8B-B14F-4D97-AF65-F5344CB8AC3E}">
        <p14:creationId xmlns:p14="http://schemas.microsoft.com/office/powerpoint/2010/main" val="1510579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1F1B-9CA7-AC59-BD17-A5BA0663C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600" b="1" dirty="0">
                <a:solidFill>
                  <a:srgbClr val="1B3A5C"/>
                </a:solidFill>
              </a:rPr>
              <a:t>MongoDB — consultas</a:t>
            </a:r>
          </a:p>
          <a:p>
            <a:pPr algn="l">
              <a:buNone/>
            </a:pPr>
            <a:r>
              <a:rPr lang="es-ES" sz="1600" i="1" dirty="0">
                <a:solidFill>
                  <a:srgbClr val="1F7A6F"/>
                </a:solidFill>
              </a:rPr>
              <a:t>mongodb/consultas_mongo.ipynb — ejecutadas con PyMongo</a:t>
            </a:r>
          </a:p>
        </p:txBody>
      </p:sp>
      <p:sp>
        <p:nvSpPr>
          <p:cNvPr id="900" name="qnum"/>
          <p:cNvSpPr/>
          <p:nvPr/>
        </p:nvSpPr>
        <p:spPr>
          <a:xfrm>
            <a:off x="381000" y="2476500"/>
            <a:ext cx="2413000" cy="120650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l">
              <a:buNone/>
            </a:pPr>
            <a:r>
              <a:rPr lang="es-ES" sz="2400" b="1" dirty="0">
                <a:solidFill>
                  <a:srgbClr val="F4A261"/>
                </a:solidFill>
              </a:rPr>
              <a:t>Q1</a:t>
            </a:r>
          </a:p>
          <a:p>
            <a:pPr algn="l">
              <a:spcBef>
                <a:spcPts val="200"/>
              </a:spcBef>
              <a:buNone/>
            </a:pPr>
            <a:r>
              <a:rPr lang="es-ES" sz="1300" b="1" dirty="0">
                <a:solidFill>
                  <a:srgbClr val="FFFFFF"/>
                </a:solidFill>
              </a:rPr>
              <a:t>Conteo total</a:t>
            </a:r>
          </a:p>
        </p:txBody>
      </p:sp>
      <p:sp>
        <p:nvSpPr>
          <p:cNvPr id="901" name="qbody"/>
          <p:cNvSpPr/>
          <p:nvPr/>
        </p:nvSpPr>
        <p:spPr>
          <a:xfrm>
            <a:off x="2921000" y="2476500"/>
            <a:ext cx="5969000" cy="120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F7A6F"/>
            </a:solidFill>
          </a:ln>
        </p:spPr>
        <p:txBody>
          <a:bodyPr wrap="square" lIns="91440" tIns="68580" rIns="68580" bIns="68580" anchor="t"/>
          <a:lstStyle/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  <a:latin typeface="Consolas"/>
              </a:rPr>
              <a:t>db.pedidos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  <a:latin typeface="Consolas"/>
              </a:rPr>
              <a:t>  .countDocuments({})</a:t>
            </a:r>
          </a:p>
        </p:txBody>
      </p:sp>
      <p:sp>
        <p:nvSpPr>
          <p:cNvPr id="902" name="qres"/>
          <p:cNvSpPr/>
          <p:nvPr/>
        </p:nvSpPr>
        <p:spPr>
          <a:xfrm>
            <a:off x="9017000" y="2476500"/>
            <a:ext cx="2794000" cy="1206500"/>
          </a:xfrm>
          <a:prstGeom prst="roundRect">
            <a:avLst>
              <a:gd name="adj" fmla="val 10000"/>
            </a:avLst>
          </a:prstGeom>
          <a:solidFill>
            <a:srgbClr val="1F7A6F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ctr">
              <a:buNone/>
            </a:pPr>
            <a:r>
              <a:rPr lang="es-ES" sz="1100" b="1" dirty="0">
                <a:solidFill>
                  <a:srgbClr val="FFFFFF"/>
                </a:solidFill>
              </a:rPr>
              <a:t>Resultado</a:t>
            </a:r>
          </a:p>
          <a:p>
            <a:pPr algn="ctr">
              <a:spcBef>
                <a:spcPts val="200"/>
              </a:spcBef>
              <a:buNone/>
            </a:pPr>
            <a:r>
              <a:rPr lang="es-ES" sz="1500" b="1" dirty="0">
                <a:solidFill>
                  <a:srgbClr val="FFFFFF"/>
                </a:solidFill>
              </a:rPr>
              <a:t>96 470</a:t>
            </a:r>
          </a:p>
          <a:p>
            <a:pPr algn="ctr">
              <a:buNone/>
            </a:pPr>
            <a:r>
              <a:rPr lang="es-ES" sz="1500" b="1" dirty="0">
                <a:solidFill>
                  <a:srgbClr val="FFFFFF"/>
                </a:solidFill>
              </a:rPr>
              <a:t>pedidos</a:t>
            </a:r>
          </a:p>
        </p:txBody>
      </p:sp>
      <p:sp>
        <p:nvSpPr>
          <p:cNvPr id="903" name="qnum"/>
          <p:cNvSpPr/>
          <p:nvPr/>
        </p:nvSpPr>
        <p:spPr>
          <a:xfrm>
            <a:off x="381000" y="3873500"/>
            <a:ext cx="2413000" cy="120650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l">
              <a:buNone/>
            </a:pPr>
            <a:r>
              <a:rPr lang="es-ES" sz="2400" b="1" dirty="0">
                <a:solidFill>
                  <a:srgbClr val="F4A261"/>
                </a:solidFill>
              </a:rPr>
              <a:t>Q2</a:t>
            </a:r>
          </a:p>
          <a:p>
            <a:pPr algn="l">
              <a:spcBef>
                <a:spcPts val="200"/>
              </a:spcBef>
              <a:buNone/>
            </a:pPr>
            <a:r>
              <a:rPr lang="es-ES" sz="1300" b="1" dirty="0">
                <a:solidFill>
                  <a:srgbClr val="FFFFFF"/>
                </a:solidFill>
              </a:rPr>
              <a:t>Tasa de retraso por estado</a:t>
            </a:r>
          </a:p>
        </p:txBody>
      </p:sp>
      <p:sp>
        <p:nvSpPr>
          <p:cNvPr id="904" name="qbody"/>
          <p:cNvSpPr/>
          <p:nvPr/>
        </p:nvSpPr>
        <p:spPr>
          <a:xfrm>
            <a:off x="2921000" y="3873500"/>
            <a:ext cx="5969000" cy="120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F7A6F"/>
            </a:solidFill>
          </a:ln>
        </p:spPr>
        <p:txBody>
          <a:bodyPr wrap="square" lIns="91440" tIns="68580" rIns="68580" bIns="68580" anchor="t"/>
          <a:lstStyle/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  <a:latin typeface="Consolas"/>
              </a:rPr>
              <a:t>db.pedidos.aggregate([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  <a:latin typeface="Consolas"/>
              </a:rPr>
              <a:t>  { $group: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  <a:latin typeface="Consolas"/>
              </a:rPr>
              <a:t>      _id: '$cliente.estado',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  <a:latin typeface="Consolas"/>
              </a:rPr>
              <a:t>      tasa: { $avg: '$entrega.entrega_tardia'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  <a:latin typeface="Consolas"/>
              </a:rPr>
              <a:t>  }},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  <a:latin typeface="Consolas"/>
              </a:rPr>
              <a:t>  { $sort: { tasa: -1 }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  <a:latin typeface="Consolas"/>
              </a:rPr>
              <a:t>])</a:t>
            </a:r>
          </a:p>
        </p:txBody>
      </p:sp>
      <p:sp>
        <p:nvSpPr>
          <p:cNvPr id="905" name="qres"/>
          <p:cNvSpPr/>
          <p:nvPr/>
        </p:nvSpPr>
        <p:spPr>
          <a:xfrm>
            <a:off x="9017000" y="3873500"/>
            <a:ext cx="2794000" cy="1206500"/>
          </a:xfrm>
          <a:prstGeom prst="roundRect">
            <a:avLst>
              <a:gd name="adj" fmla="val 10000"/>
            </a:avLst>
          </a:prstGeom>
          <a:solidFill>
            <a:srgbClr val="1F7A6F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ctr">
              <a:buNone/>
            </a:pPr>
            <a:r>
              <a:rPr lang="es-ES" sz="1100" b="1" dirty="0">
                <a:solidFill>
                  <a:srgbClr val="FFFFFF"/>
                </a:solidFill>
              </a:rPr>
              <a:t>Resultado</a:t>
            </a:r>
          </a:p>
          <a:p>
            <a:pPr algn="ctr">
              <a:spcBef>
                <a:spcPts val="200"/>
              </a:spcBef>
              <a:buNone/>
            </a:pPr>
            <a:r>
              <a:rPr lang="es-ES" sz="1500" b="1" dirty="0">
                <a:solidFill>
                  <a:srgbClr val="FFFFFF"/>
                </a:solidFill>
              </a:rPr>
              <a:t>Top: RR, AP,</a:t>
            </a:r>
          </a:p>
          <a:p>
            <a:pPr algn="ctr">
              <a:buNone/>
            </a:pPr>
            <a:r>
              <a:rPr lang="es-ES" sz="1500" b="1" dirty="0">
                <a:solidFill>
                  <a:srgbClr val="FFFFFF"/>
                </a:solidFill>
              </a:rPr>
              <a:t>AM (&gt;15%)</a:t>
            </a:r>
          </a:p>
        </p:txBody>
      </p:sp>
      <p:sp>
        <p:nvSpPr>
          <p:cNvPr id="906" name="qnum"/>
          <p:cNvSpPr/>
          <p:nvPr/>
        </p:nvSpPr>
        <p:spPr>
          <a:xfrm>
            <a:off x="381000" y="5270500"/>
            <a:ext cx="2413000" cy="120650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l">
              <a:buNone/>
            </a:pPr>
            <a:r>
              <a:rPr lang="es-ES" sz="2400" b="1" dirty="0">
                <a:solidFill>
                  <a:srgbClr val="F4A261"/>
                </a:solidFill>
              </a:rPr>
              <a:t>Q3</a:t>
            </a:r>
          </a:p>
          <a:p>
            <a:pPr algn="l">
              <a:spcBef>
                <a:spcPts val="200"/>
              </a:spcBef>
              <a:buNone/>
            </a:pPr>
            <a:r>
              <a:rPr lang="es-ES" sz="1300" b="1" dirty="0">
                <a:solidFill>
                  <a:srgbClr val="FFFFFF"/>
                </a:solidFill>
              </a:rPr>
              <a:t>Score promedio por categoría</a:t>
            </a:r>
          </a:p>
        </p:txBody>
      </p:sp>
      <p:sp>
        <p:nvSpPr>
          <p:cNvPr id="907" name="qbody"/>
          <p:cNvSpPr/>
          <p:nvPr/>
        </p:nvSpPr>
        <p:spPr>
          <a:xfrm>
            <a:off x="2921000" y="5270500"/>
            <a:ext cx="5969000" cy="120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F7A6F"/>
            </a:solidFill>
          </a:ln>
        </p:spPr>
        <p:txBody>
          <a:bodyPr wrap="square" lIns="91440" tIns="68580" rIns="68580" bIns="68580" anchor="t"/>
          <a:lstStyle/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  <a:latin typeface="Consolas"/>
              </a:rPr>
              <a:t>db.pedidos.aggregate([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  <a:latin typeface="Consolas"/>
              </a:rPr>
              <a:t>  { $group: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  <a:latin typeface="Consolas"/>
              </a:rPr>
              <a:t>      _id: '$producto.categoria',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  <a:latin typeface="Consolas"/>
              </a:rPr>
              <a:t>      score_avg: { $avg: '$resena.score'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  <a:latin typeface="Consolas"/>
              </a:rPr>
              <a:t>  }}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0F2A44"/>
                </a:solidFill>
                <a:latin typeface="Consolas"/>
              </a:rPr>
              <a:t>])</a:t>
            </a:r>
          </a:p>
        </p:txBody>
      </p:sp>
      <p:sp>
        <p:nvSpPr>
          <p:cNvPr id="908" name="qres"/>
          <p:cNvSpPr/>
          <p:nvPr/>
        </p:nvSpPr>
        <p:spPr>
          <a:xfrm>
            <a:off x="9017000" y="5270500"/>
            <a:ext cx="2794000" cy="1206500"/>
          </a:xfrm>
          <a:prstGeom prst="roundRect">
            <a:avLst>
              <a:gd name="adj" fmla="val 10000"/>
            </a:avLst>
          </a:prstGeom>
          <a:solidFill>
            <a:srgbClr val="1F7A6F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ctr">
              <a:buNone/>
            </a:pPr>
            <a:r>
              <a:rPr lang="es-ES" sz="1100" b="1" dirty="0">
                <a:solidFill>
                  <a:srgbClr val="FFFFFF"/>
                </a:solidFill>
              </a:rPr>
              <a:t>Resultado</a:t>
            </a:r>
          </a:p>
          <a:p>
            <a:pPr algn="ctr">
              <a:spcBef>
                <a:spcPts val="200"/>
              </a:spcBef>
              <a:buNone/>
            </a:pPr>
            <a:r>
              <a:rPr lang="es-ES" sz="1500" b="1" dirty="0">
                <a:solidFill>
                  <a:srgbClr val="FFFFFF"/>
                </a:solidFill>
              </a:rPr>
              <a:t>73 categorías</a:t>
            </a:r>
          </a:p>
          <a:p>
            <a:pPr algn="ctr">
              <a:buNone/>
            </a:pPr>
            <a:r>
              <a:rPr lang="es-ES" sz="1500" b="1" dirty="0">
                <a:solidFill>
                  <a:srgbClr val="FFFFFF"/>
                </a:solidFill>
              </a:rPr>
              <a:t>score 3.8 prom.</a:t>
            </a:r>
          </a:p>
        </p:txBody>
      </p:sp>
    </p:spTree>
    <p:extLst>
      <p:ext uri="{BB962C8B-B14F-4D97-AF65-F5344CB8AC3E}">
        <p14:creationId xmlns:p14="http://schemas.microsoft.com/office/powerpoint/2010/main" val="419962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63AB7-8254-B2F4-894A-8C7B4A2F0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600" b="1" dirty="0">
                <a:solidFill>
                  <a:srgbClr val="1B3A5C"/>
                </a:solidFill>
              </a:rPr>
              <a:t>Modelo predictivo — setup</a:t>
            </a:r>
          </a:p>
          <a:p>
            <a:pPr algn="l">
              <a:buNone/>
            </a:pPr>
            <a:r>
              <a:rPr lang="es-ES" sz="1600" i="1" dirty="0">
                <a:solidFill>
                  <a:srgbClr val="1F7A6F"/>
                </a:solidFill>
              </a:rPr>
              <a:t>Random Forest — clasificación binaria de entrega tardía</a:t>
            </a:r>
          </a:p>
        </p:txBody>
      </p:sp>
      <p:sp>
        <p:nvSpPr>
          <p:cNvPr id="1000" name="kpi"/>
          <p:cNvSpPr/>
          <p:nvPr/>
        </p:nvSpPr>
        <p:spPr>
          <a:xfrm>
            <a:off x="381000" y="2476500"/>
            <a:ext cx="2730500" cy="114300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ctr">
              <a:buNone/>
            </a:pPr>
            <a:r>
              <a:rPr lang="es-ES" sz="2600" b="1" dirty="0">
                <a:solidFill>
                  <a:srgbClr val="FFFFFF"/>
                </a:solidFill>
              </a:rPr>
              <a:t>96 470</a:t>
            </a:r>
          </a:p>
          <a:p>
            <a:pPr algn="ctr">
              <a:spcBef>
                <a:spcPts val="100"/>
              </a:spcBef>
              <a:buNone/>
            </a:pPr>
            <a:r>
              <a:rPr lang="es-ES" sz="1300" dirty="0">
                <a:solidFill>
                  <a:srgbClr val="FFFFFF"/>
                </a:solidFill>
              </a:rPr>
              <a:t>pedidos totales</a:t>
            </a:r>
          </a:p>
        </p:txBody>
      </p:sp>
      <p:sp>
        <p:nvSpPr>
          <p:cNvPr id="1001" name="kpi"/>
          <p:cNvSpPr/>
          <p:nvPr/>
        </p:nvSpPr>
        <p:spPr>
          <a:xfrm>
            <a:off x="3238500" y="2476500"/>
            <a:ext cx="2730500" cy="1143000"/>
          </a:xfrm>
          <a:prstGeom prst="roundRect">
            <a:avLst>
              <a:gd name="adj" fmla="val 8000"/>
            </a:avLst>
          </a:prstGeom>
          <a:solidFill>
            <a:srgbClr val="264653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ctr">
              <a:buNone/>
            </a:pPr>
            <a:r>
              <a:rPr lang="es-ES" sz="2600" b="1" dirty="0">
                <a:solidFill>
                  <a:srgbClr val="FFFFFF"/>
                </a:solidFill>
              </a:rPr>
              <a:t>80 / 20</a:t>
            </a:r>
          </a:p>
          <a:p>
            <a:pPr algn="ctr">
              <a:spcBef>
                <a:spcPts val="100"/>
              </a:spcBef>
              <a:buNone/>
            </a:pPr>
            <a:r>
              <a:rPr lang="es-ES" sz="1300" dirty="0">
                <a:solidFill>
                  <a:srgbClr val="FFFFFF"/>
                </a:solidFill>
              </a:rPr>
              <a:t>split train / test</a:t>
            </a:r>
          </a:p>
        </p:txBody>
      </p:sp>
      <p:sp>
        <p:nvSpPr>
          <p:cNvPr id="1002" name="kpi"/>
          <p:cNvSpPr/>
          <p:nvPr/>
        </p:nvSpPr>
        <p:spPr>
          <a:xfrm>
            <a:off x="6096000" y="2476500"/>
            <a:ext cx="2730500" cy="1143000"/>
          </a:xfrm>
          <a:prstGeom prst="roundRect">
            <a:avLst>
              <a:gd name="adj" fmla="val 8000"/>
            </a:avLst>
          </a:prstGeom>
          <a:solidFill>
            <a:srgbClr val="B5432B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ctr">
              <a:buNone/>
            </a:pPr>
            <a:r>
              <a:rPr lang="es-ES" sz="2600" b="1" dirty="0">
                <a:solidFill>
                  <a:srgbClr val="FFFFFF"/>
                </a:solidFill>
              </a:rPr>
              <a:t>8.1%</a:t>
            </a:r>
          </a:p>
          <a:p>
            <a:pPr algn="ctr">
              <a:spcBef>
                <a:spcPts val="100"/>
              </a:spcBef>
              <a:buNone/>
            </a:pPr>
            <a:r>
              <a:rPr lang="es-ES" sz="1300" dirty="0">
                <a:solidFill>
                  <a:srgbClr val="FFFFFF"/>
                </a:solidFill>
              </a:rPr>
              <a:t>tasa de retraso</a:t>
            </a:r>
          </a:p>
        </p:txBody>
      </p:sp>
      <p:sp>
        <p:nvSpPr>
          <p:cNvPr id="1003" name="kpi"/>
          <p:cNvSpPr/>
          <p:nvPr/>
        </p:nvSpPr>
        <p:spPr>
          <a:xfrm>
            <a:off x="8953500" y="2476500"/>
            <a:ext cx="2857500" cy="1143000"/>
          </a:xfrm>
          <a:prstGeom prst="roundRect">
            <a:avLst>
              <a:gd name="adj" fmla="val 8000"/>
            </a:avLst>
          </a:prstGeom>
          <a:solidFill>
            <a:srgbClr val="1F7A6F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ctr">
              <a:buNone/>
            </a:pPr>
            <a:r>
              <a:rPr lang="es-ES" sz="2600" b="1" dirty="0">
                <a:solidFill>
                  <a:srgbClr val="FFFFFF"/>
                </a:solidFill>
              </a:rPr>
              <a:t>class_weight</a:t>
            </a:r>
          </a:p>
          <a:p>
            <a:pPr algn="ctr">
              <a:spcBef>
                <a:spcPts val="100"/>
              </a:spcBef>
              <a:buNone/>
            </a:pPr>
            <a:r>
              <a:rPr lang="es-ES" sz="1300" dirty="0">
                <a:solidFill>
                  <a:srgbClr val="FFFFFF"/>
                </a:solidFill>
              </a:rPr>
              <a:t>balanceo</a:t>
            </a:r>
          </a:p>
        </p:txBody>
      </p:sp>
      <p:sp>
        <p:nvSpPr>
          <p:cNvPr id="1004" name="p_h"/>
          <p:cNvSpPr/>
          <p:nvPr/>
        </p:nvSpPr>
        <p:spPr>
          <a:xfrm>
            <a:off x="381000" y="3873500"/>
            <a:ext cx="5588000" cy="50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s-ES" sz="1600" b="1" dirty="0">
                <a:solidFill>
                  <a:srgbClr val="FFFFFF"/>
                </a:solidFill>
              </a:rPr>
              <a:t>Features de entrada</a:t>
            </a:r>
          </a:p>
        </p:txBody>
      </p:sp>
      <p:sp>
        <p:nvSpPr>
          <p:cNvPr id="1005" name="p_b"/>
          <p:cNvSpPr/>
          <p:nvPr/>
        </p:nvSpPr>
        <p:spPr>
          <a:xfrm>
            <a:off x="381000" y="4381500"/>
            <a:ext cx="5588000" cy="2159000"/>
          </a:xfrm>
          <a:prstGeom prst="rect">
            <a:avLst/>
          </a:prstGeom>
          <a:solidFill>
            <a:srgbClr val="FFFFFF"/>
          </a:solidFill>
          <a:ln w="9525">
            <a:solidFill>
              <a:srgbClr val="1B3A5C"/>
            </a:solidFill>
          </a:ln>
        </p:spPr>
        <p:txBody>
          <a:bodyPr wrap="square" lIns="91440" tIns="68580" rIns="91440" bIns="68580" anchor="t"/>
          <a:lstStyle/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review_score · dias_prometidos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estado_cliente · estado_vendedor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pago_valor · tipo_pago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volumen_cm³ · peso_g · categoría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número de items por pedido</a:t>
            </a:r>
          </a:p>
        </p:txBody>
      </p:sp>
      <p:sp>
        <p:nvSpPr>
          <p:cNvPr id="1006" name="p_h"/>
          <p:cNvSpPr/>
          <p:nvPr/>
        </p:nvSpPr>
        <p:spPr>
          <a:xfrm>
            <a:off x="6223000" y="3873500"/>
            <a:ext cx="5588000" cy="5080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s-ES" sz="1600" b="1" dirty="0">
                <a:solidFill>
                  <a:srgbClr val="FFFFFF"/>
                </a:solidFill>
              </a:rPr>
              <a:t>Configuración del modelo</a:t>
            </a:r>
          </a:p>
        </p:txBody>
      </p:sp>
      <p:sp>
        <p:nvSpPr>
          <p:cNvPr id="1007" name="p_b"/>
          <p:cNvSpPr/>
          <p:nvPr/>
        </p:nvSpPr>
        <p:spPr>
          <a:xfrm>
            <a:off x="6223000" y="4381500"/>
            <a:ext cx="5588000" cy="2159000"/>
          </a:xfrm>
          <a:prstGeom prst="rect">
            <a:avLst/>
          </a:prstGeom>
          <a:solidFill>
            <a:srgbClr val="FFFFFF"/>
          </a:solidFill>
          <a:ln w="9525">
            <a:solidFill>
              <a:srgbClr val="1F7A6F"/>
            </a:solidFill>
          </a:ln>
        </p:spPr>
        <p:txBody>
          <a:bodyPr wrap="square" lIns="91440" tIns="68580" rIns="91440" bIns="68580" anchor="t"/>
          <a:lstStyle/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RandomForestClassifier (scikit-learn 1.4)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Split estratificado 80/20, random_state=42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class_weight='balanced' (clase positiva 8.1%)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Variable objetivo: entrega_tardia (1/0)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ES" sz="1400" dirty="0">
                <a:solidFill>
                  <a:srgbClr val="0F2A44"/>
                </a:solidFill>
              </a:rPr>
              <a:t>Encoding: categóricas one-hot, numéricas crudas</a:t>
            </a:r>
          </a:p>
        </p:txBody>
      </p:sp>
    </p:spTree>
    <p:extLst>
      <p:ext uri="{BB962C8B-B14F-4D97-AF65-F5344CB8AC3E}">
        <p14:creationId xmlns:p14="http://schemas.microsoft.com/office/powerpoint/2010/main" val="2427087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46FA0-4639-617A-5C4F-31CA64CE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600" b="1" dirty="0">
                <a:solidFill>
                  <a:srgbClr val="1B3A5C"/>
                </a:solidFill>
              </a:rPr>
              <a:t>Resultados del modelo</a:t>
            </a:r>
          </a:p>
        </p:txBody>
      </p:sp>
      <p:sp>
        <p:nvSpPr>
          <p:cNvPr id="1100" name="kpi"/>
          <p:cNvSpPr/>
          <p:nvPr/>
        </p:nvSpPr>
        <p:spPr>
          <a:xfrm>
            <a:off x="381000" y="1905000"/>
            <a:ext cx="2730500" cy="120650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ctr">
              <a:buNone/>
            </a:pPr>
            <a:r>
              <a:rPr lang="es-ES" sz="2800" b="1" dirty="0">
                <a:solidFill>
                  <a:srgbClr val="FFFFFF"/>
                </a:solidFill>
              </a:rPr>
              <a:t>0.86</a:t>
            </a:r>
          </a:p>
          <a:p>
            <a:pPr algn="ctr">
              <a:spcBef>
                <a:spcPts val="100"/>
              </a:spcBef>
              <a:buNone/>
            </a:pPr>
            <a:r>
              <a:rPr lang="es-ES" sz="1300" dirty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101" name="kpi"/>
          <p:cNvSpPr/>
          <p:nvPr/>
        </p:nvSpPr>
        <p:spPr>
          <a:xfrm>
            <a:off x="3238500" y="1905000"/>
            <a:ext cx="2730500" cy="1206500"/>
          </a:xfrm>
          <a:prstGeom prst="roundRect">
            <a:avLst>
              <a:gd name="adj" fmla="val 8000"/>
            </a:avLst>
          </a:prstGeom>
          <a:solidFill>
            <a:srgbClr val="1F7A6F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ctr">
              <a:buNone/>
            </a:pPr>
            <a:r>
              <a:rPr lang="es-ES" sz="2800" b="1" dirty="0">
                <a:solidFill>
                  <a:srgbClr val="FFFFFF"/>
                </a:solidFill>
              </a:rPr>
              <a:t>0.83</a:t>
            </a:r>
          </a:p>
          <a:p>
            <a:pPr algn="ctr">
              <a:spcBef>
                <a:spcPts val="100"/>
              </a:spcBef>
              <a:buNone/>
            </a:pPr>
            <a:r>
              <a:rPr lang="es-ES" sz="1300" dirty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1102" name="kpi"/>
          <p:cNvSpPr/>
          <p:nvPr/>
        </p:nvSpPr>
        <p:spPr>
          <a:xfrm>
            <a:off x="6096000" y="1905000"/>
            <a:ext cx="2730500" cy="1206500"/>
          </a:xfrm>
          <a:prstGeom prst="roundRect">
            <a:avLst>
              <a:gd name="adj" fmla="val 8000"/>
            </a:avLst>
          </a:prstGeom>
          <a:solidFill>
            <a:srgbClr val="A56B2E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ctr">
              <a:buNone/>
            </a:pPr>
            <a:r>
              <a:rPr lang="es-ES" sz="2800" b="1" dirty="0">
                <a:solidFill>
                  <a:srgbClr val="FFFFFF"/>
                </a:solidFill>
              </a:rPr>
              <a:t>0.61</a:t>
            </a:r>
          </a:p>
          <a:p>
            <a:pPr algn="ctr">
              <a:spcBef>
                <a:spcPts val="100"/>
              </a:spcBef>
              <a:buNone/>
            </a:pPr>
            <a:r>
              <a:rPr lang="es-ES" sz="1300" dirty="0">
                <a:solidFill>
                  <a:srgbClr val="FFFFFF"/>
                </a:solidFill>
              </a:rPr>
              <a:t>Recall (Tardío)</a:t>
            </a:r>
          </a:p>
        </p:txBody>
      </p:sp>
      <p:sp>
        <p:nvSpPr>
          <p:cNvPr id="1103" name="kpi"/>
          <p:cNvSpPr/>
          <p:nvPr/>
        </p:nvSpPr>
        <p:spPr>
          <a:xfrm>
            <a:off x="8953500" y="1905000"/>
            <a:ext cx="2857500" cy="1206500"/>
          </a:xfrm>
          <a:prstGeom prst="roundRect">
            <a:avLst>
              <a:gd name="adj" fmla="val 8000"/>
            </a:avLst>
          </a:prstGeom>
          <a:solidFill>
            <a:srgbClr val="B5432B"/>
          </a:solidFill>
          <a:ln>
            <a:noFill/>
          </a:ln>
        </p:spPr>
        <p:txBody>
          <a:bodyPr wrap="square" lIns="91440" tIns="68580" rIns="91440" bIns="68580" anchor="ctr"/>
          <a:lstStyle/>
          <a:p>
            <a:pPr algn="ctr">
              <a:buNone/>
            </a:pPr>
            <a:r>
              <a:rPr lang="es-ES" sz="2800" b="1" dirty="0">
                <a:solidFill>
                  <a:srgbClr val="FFFFFF"/>
                </a:solidFill>
              </a:rPr>
              <a:t>0.42</a:t>
            </a:r>
          </a:p>
          <a:p>
            <a:pPr algn="ctr">
              <a:spcBef>
                <a:spcPts val="100"/>
              </a:spcBef>
              <a:buNone/>
            </a:pPr>
            <a:r>
              <a:rPr lang="es-ES" sz="1300" dirty="0">
                <a:solidFill>
                  <a:srgbClr val="FFFFFF"/>
                </a:solidFill>
              </a:rPr>
              <a:t>F1 (Tardío)</a:t>
            </a:r>
          </a:p>
        </p:txBody>
      </p:sp>
      <p:sp>
        <p:nvSpPr>
          <p:cNvPr id="1104" name="rep_h"/>
          <p:cNvSpPr/>
          <p:nvPr/>
        </p:nvSpPr>
        <p:spPr>
          <a:xfrm>
            <a:off x="381000" y="3365500"/>
            <a:ext cx="5588000" cy="50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s-ES" sz="1600" b="1" dirty="0">
                <a:solidFill>
                  <a:srgbClr val="FFFFFF"/>
                </a:solidFill>
              </a:rPr>
              <a:t>Classification report</a:t>
            </a:r>
          </a:p>
        </p:txBody>
      </p:sp>
      <p:sp>
        <p:nvSpPr>
          <p:cNvPr id="1105" name="cell"/>
          <p:cNvSpPr/>
          <p:nvPr/>
        </p:nvSpPr>
        <p:spPr>
          <a:xfrm>
            <a:off x="381000" y="3873500"/>
            <a:ext cx="2011680" cy="619125"/>
          </a:xfrm>
          <a:prstGeom prst="rect">
            <a:avLst/>
          </a:prstGeom>
          <a:solidFill>
            <a:srgbClr val="E1E8F0"/>
          </a:solidFill>
          <a:ln w="3175">
            <a:solidFill>
              <a:srgbClr val="E1E8F0"/>
            </a:solidFill>
          </a:ln>
        </p:spPr>
        <p:txBody>
          <a:bodyPr wrap="square" lIns="190500" tIns="22860" rIns="68580" bIns="22860" anchor="ctr"/>
          <a:lstStyle/>
          <a:p>
            <a:pPr algn="l">
              <a:buNone/>
            </a:pPr>
            <a:r>
              <a:rPr lang="es-ES" sz="1400" b="1" dirty="0">
                <a:solidFill>
                  <a:srgbClr val="0F2A44"/>
                </a:solidFill>
              </a:rPr>
              <a:t>Clase</a:t>
            </a:r>
          </a:p>
        </p:txBody>
      </p:sp>
      <p:sp>
        <p:nvSpPr>
          <p:cNvPr id="1106" name="cell"/>
          <p:cNvSpPr/>
          <p:nvPr/>
        </p:nvSpPr>
        <p:spPr>
          <a:xfrm>
            <a:off x="2392680" y="3873500"/>
            <a:ext cx="894080" cy="619125"/>
          </a:xfrm>
          <a:prstGeom prst="rect">
            <a:avLst/>
          </a:prstGeom>
          <a:solidFill>
            <a:srgbClr val="E1E8F0"/>
          </a:solidFill>
          <a:ln w="3175">
            <a:solidFill>
              <a:srgbClr val="E1E8F0"/>
            </a:solidFill>
          </a:ln>
        </p:spPr>
        <p:txBody>
          <a:bodyPr wrap="square" lIns="68580" tIns="22860" rIns="68580" bIns="22860" anchor="ctr"/>
          <a:lstStyle/>
          <a:p>
            <a:pPr algn="r">
              <a:buNone/>
            </a:pPr>
            <a:r>
              <a:rPr lang="es-ES" sz="1400" b="1" dirty="0">
                <a:solidFill>
                  <a:srgbClr val="0F2A44"/>
                </a:solidFill>
              </a:rPr>
              <a:t>Prec.</a:t>
            </a:r>
          </a:p>
        </p:txBody>
      </p:sp>
      <p:sp>
        <p:nvSpPr>
          <p:cNvPr id="1107" name="cell"/>
          <p:cNvSpPr/>
          <p:nvPr/>
        </p:nvSpPr>
        <p:spPr>
          <a:xfrm>
            <a:off x="3286760" y="3873500"/>
            <a:ext cx="894080" cy="619125"/>
          </a:xfrm>
          <a:prstGeom prst="rect">
            <a:avLst/>
          </a:prstGeom>
          <a:solidFill>
            <a:srgbClr val="E1E8F0"/>
          </a:solidFill>
          <a:ln w="3175">
            <a:solidFill>
              <a:srgbClr val="E1E8F0"/>
            </a:solidFill>
          </a:ln>
        </p:spPr>
        <p:txBody>
          <a:bodyPr wrap="square" lIns="68580" tIns="22860" rIns="68580" bIns="22860" anchor="ctr"/>
          <a:lstStyle/>
          <a:p>
            <a:pPr algn="r">
              <a:buNone/>
            </a:pPr>
            <a:r>
              <a:rPr lang="es-ES" sz="1400" b="1" dirty="0">
                <a:solidFill>
                  <a:srgbClr val="0F2A44"/>
                </a:solidFill>
              </a:rPr>
              <a:t>Recall</a:t>
            </a:r>
          </a:p>
        </p:txBody>
      </p:sp>
      <p:sp>
        <p:nvSpPr>
          <p:cNvPr id="1108" name="cell"/>
          <p:cNvSpPr/>
          <p:nvPr/>
        </p:nvSpPr>
        <p:spPr>
          <a:xfrm>
            <a:off x="4180840" y="3873500"/>
            <a:ext cx="894080" cy="619125"/>
          </a:xfrm>
          <a:prstGeom prst="rect">
            <a:avLst/>
          </a:prstGeom>
          <a:solidFill>
            <a:srgbClr val="E1E8F0"/>
          </a:solidFill>
          <a:ln w="3175">
            <a:solidFill>
              <a:srgbClr val="E1E8F0"/>
            </a:solidFill>
          </a:ln>
        </p:spPr>
        <p:txBody>
          <a:bodyPr wrap="square" lIns="68580" tIns="22860" rIns="68580" bIns="22860" anchor="ctr"/>
          <a:lstStyle/>
          <a:p>
            <a:pPr algn="r">
              <a:buNone/>
            </a:pPr>
            <a:r>
              <a:rPr lang="es-ES" sz="1400" b="1" dirty="0">
                <a:solidFill>
                  <a:srgbClr val="0F2A44"/>
                </a:solidFill>
              </a:rPr>
              <a:t>F1</a:t>
            </a:r>
          </a:p>
        </p:txBody>
      </p:sp>
      <p:sp>
        <p:nvSpPr>
          <p:cNvPr id="1109" name="cell"/>
          <p:cNvSpPr/>
          <p:nvPr/>
        </p:nvSpPr>
        <p:spPr>
          <a:xfrm>
            <a:off x="5074920" y="3873500"/>
            <a:ext cx="894080" cy="619125"/>
          </a:xfrm>
          <a:prstGeom prst="rect">
            <a:avLst/>
          </a:prstGeom>
          <a:solidFill>
            <a:srgbClr val="E1E8F0"/>
          </a:solidFill>
          <a:ln w="3175">
            <a:solidFill>
              <a:srgbClr val="E1E8F0"/>
            </a:solidFill>
          </a:ln>
        </p:spPr>
        <p:txBody>
          <a:bodyPr wrap="square" lIns="68580" tIns="22860" rIns="68580" bIns="22860" anchor="ctr"/>
          <a:lstStyle/>
          <a:p>
            <a:pPr algn="r">
              <a:buNone/>
            </a:pPr>
            <a:r>
              <a:rPr lang="es-ES" sz="1400" b="1" dirty="0">
                <a:solidFill>
                  <a:srgbClr val="0F2A44"/>
                </a:solidFill>
              </a:rPr>
              <a:t>n</a:t>
            </a:r>
          </a:p>
        </p:txBody>
      </p:sp>
      <p:sp>
        <p:nvSpPr>
          <p:cNvPr id="1110" name="cell"/>
          <p:cNvSpPr/>
          <p:nvPr/>
        </p:nvSpPr>
        <p:spPr>
          <a:xfrm>
            <a:off x="381000" y="4492625"/>
            <a:ext cx="2011680" cy="619125"/>
          </a:xfrm>
          <a:prstGeom prst="rect">
            <a:avLst/>
          </a:prstGeom>
          <a:solidFill>
            <a:srgbClr val="FFFFFF"/>
          </a:solidFill>
          <a:ln w="3175">
            <a:solidFill>
              <a:srgbClr val="E1E8F0"/>
            </a:solidFill>
          </a:ln>
        </p:spPr>
        <p:txBody>
          <a:bodyPr wrap="square" lIns="190500" tIns="22860" rIns="68580" bIns="22860" anchor="ctr"/>
          <a:lstStyle/>
          <a:p>
            <a:pPr algn="l">
              <a:buNone/>
            </a:pPr>
            <a:r>
              <a:rPr lang="es-ES" sz="1400" dirty="0">
                <a:solidFill>
                  <a:srgbClr val="0F2A44"/>
                </a:solidFill>
              </a:rPr>
              <a:t>A tiempo</a:t>
            </a:r>
          </a:p>
        </p:txBody>
      </p:sp>
      <p:sp>
        <p:nvSpPr>
          <p:cNvPr id="1111" name="cell"/>
          <p:cNvSpPr/>
          <p:nvPr/>
        </p:nvSpPr>
        <p:spPr>
          <a:xfrm>
            <a:off x="2392680" y="4492625"/>
            <a:ext cx="894080" cy="619125"/>
          </a:xfrm>
          <a:prstGeom prst="rect">
            <a:avLst/>
          </a:prstGeom>
          <a:solidFill>
            <a:srgbClr val="FFFFFF"/>
          </a:solidFill>
          <a:ln w="3175">
            <a:solidFill>
              <a:srgbClr val="E1E8F0"/>
            </a:solidFill>
          </a:ln>
        </p:spPr>
        <p:txBody>
          <a:bodyPr wrap="square" lIns="68580" tIns="22860" rIns="68580" bIns="22860" anchor="ctr"/>
          <a:lstStyle/>
          <a:p>
            <a:pPr algn="r">
              <a:buNone/>
            </a:pPr>
            <a:r>
              <a:rPr lang="es-ES" sz="1400" dirty="0">
                <a:solidFill>
                  <a:srgbClr val="0F2A44"/>
                </a:solidFill>
              </a:rPr>
              <a:t>0.96</a:t>
            </a:r>
          </a:p>
        </p:txBody>
      </p:sp>
      <p:sp>
        <p:nvSpPr>
          <p:cNvPr id="1112" name="cell"/>
          <p:cNvSpPr/>
          <p:nvPr/>
        </p:nvSpPr>
        <p:spPr>
          <a:xfrm>
            <a:off x="3286760" y="4492625"/>
            <a:ext cx="894080" cy="619125"/>
          </a:xfrm>
          <a:prstGeom prst="rect">
            <a:avLst/>
          </a:prstGeom>
          <a:solidFill>
            <a:srgbClr val="FFFFFF"/>
          </a:solidFill>
          <a:ln w="3175">
            <a:solidFill>
              <a:srgbClr val="E1E8F0"/>
            </a:solidFill>
          </a:ln>
        </p:spPr>
        <p:txBody>
          <a:bodyPr wrap="square" lIns="68580" tIns="22860" rIns="68580" bIns="22860" anchor="ctr"/>
          <a:lstStyle/>
          <a:p>
            <a:pPr algn="r">
              <a:buNone/>
            </a:pPr>
            <a:r>
              <a:rPr lang="es-ES" sz="1400" dirty="0">
                <a:solidFill>
                  <a:srgbClr val="0F2A44"/>
                </a:solidFill>
              </a:rPr>
              <a:t>0.89</a:t>
            </a:r>
          </a:p>
        </p:txBody>
      </p:sp>
      <p:sp>
        <p:nvSpPr>
          <p:cNvPr id="1113" name="cell"/>
          <p:cNvSpPr/>
          <p:nvPr/>
        </p:nvSpPr>
        <p:spPr>
          <a:xfrm>
            <a:off x="4180840" y="4492625"/>
            <a:ext cx="894080" cy="619125"/>
          </a:xfrm>
          <a:prstGeom prst="rect">
            <a:avLst/>
          </a:prstGeom>
          <a:solidFill>
            <a:srgbClr val="FFFFFF"/>
          </a:solidFill>
          <a:ln w="3175">
            <a:solidFill>
              <a:srgbClr val="E1E8F0"/>
            </a:solidFill>
          </a:ln>
        </p:spPr>
        <p:txBody>
          <a:bodyPr wrap="square" lIns="68580" tIns="22860" rIns="68580" bIns="22860" anchor="ctr"/>
          <a:lstStyle/>
          <a:p>
            <a:pPr algn="r">
              <a:buNone/>
            </a:pPr>
            <a:r>
              <a:rPr lang="es-ES" sz="1400" dirty="0">
                <a:solidFill>
                  <a:srgbClr val="0F2A44"/>
                </a:solidFill>
              </a:rPr>
              <a:t>0.92</a:t>
            </a:r>
          </a:p>
        </p:txBody>
      </p:sp>
      <p:sp>
        <p:nvSpPr>
          <p:cNvPr id="1114" name="cell"/>
          <p:cNvSpPr/>
          <p:nvPr/>
        </p:nvSpPr>
        <p:spPr>
          <a:xfrm>
            <a:off x="5074920" y="4492625"/>
            <a:ext cx="894080" cy="619125"/>
          </a:xfrm>
          <a:prstGeom prst="rect">
            <a:avLst/>
          </a:prstGeom>
          <a:solidFill>
            <a:srgbClr val="FFFFFF"/>
          </a:solidFill>
          <a:ln w="3175">
            <a:solidFill>
              <a:srgbClr val="E1E8F0"/>
            </a:solidFill>
          </a:ln>
        </p:spPr>
        <p:txBody>
          <a:bodyPr wrap="square" lIns="68580" tIns="22860" rIns="68580" bIns="22860" anchor="ctr"/>
          <a:lstStyle/>
          <a:p>
            <a:pPr algn="r">
              <a:buNone/>
            </a:pPr>
            <a:r>
              <a:rPr lang="es-ES" sz="1400" dirty="0">
                <a:solidFill>
                  <a:srgbClr val="0F2A44"/>
                </a:solidFill>
              </a:rPr>
              <a:t>17 729</a:t>
            </a:r>
          </a:p>
        </p:txBody>
      </p:sp>
      <p:sp>
        <p:nvSpPr>
          <p:cNvPr id="1116" name="cell"/>
          <p:cNvSpPr/>
          <p:nvPr/>
        </p:nvSpPr>
        <p:spPr>
          <a:xfrm>
            <a:off x="381000" y="5111750"/>
            <a:ext cx="2011680" cy="619125"/>
          </a:xfrm>
          <a:prstGeom prst="rect">
            <a:avLst/>
          </a:prstGeom>
          <a:solidFill>
            <a:srgbClr val="F7F9FC"/>
          </a:solidFill>
          <a:ln w="3175">
            <a:solidFill>
              <a:srgbClr val="E1E8F0"/>
            </a:solidFill>
          </a:ln>
        </p:spPr>
        <p:txBody>
          <a:bodyPr wrap="square" lIns="190500" tIns="22860" rIns="68580" bIns="22860" anchor="ctr"/>
          <a:lstStyle/>
          <a:p>
            <a:pPr algn="l">
              <a:buNone/>
            </a:pPr>
            <a:r>
              <a:rPr lang="es-ES" sz="1400" dirty="0">
                <a:solidFill>
                  <a:srgbClr val="0F2A44"/>
                </a:solidFill>
              </a:rPr>
              <a:t>Tardío</a:t>
            </a:r>
          </a:p>
        </p:txBody>
      </p:sp>
      <p:sp>
        <p:nvSpPr>
          <p:cNvPr id="1117" name="cell"/>
          <p:cNvSpPr/>
          <p:nvPr/>
        </p:nvSpPr>
        <p:spPr>
          <a:xfrm>
            <a:off x="2392680" y="5111750"/>
            <a:ext cx="894080" cy="619125"/>
          </a:xfrm>
          <a:prstGeom prst="rect">
            <a:avLst/>
          </a:prstGeom>
          <a:solidFill>
            <a:srgbClr val="F7F9FC"/>
          </a:solidFill>
          <a:ln w="3175">
            <a:solidFill>
              <a:srgbClr val="E1E8F0"/>
            </a:solidFill>
          </a:ln>
        </p:spPr>
        <p:txBody>
          <a:bodyPr wrap="square" lIns="68580" tIns="22860" rIns="68580" bIns="22860" anchor="ctr"/>
          <a:lstStyle/>
          <a:p>
            <a:pPr algn="r">
              <a:buNone/>
            </a:pPr>
            <a:r>
              <a:rPr lang="es-ES" sz="1400" dirty="0">
                <a:solidFill>
                  <a:srgbClr val="0F2A44"/>
                </a:solidFill>
              </a:rPr>
              <a:t>0.32</a:t>
            </a:r>
          </a:p>
        </p:txBody>
      </p:sp>
      <p:sp>
        <p:nvSpPr>
          <p:cNvPr id="1118" name="cell"/>
          <p:cNvSpPr/>
          <p:nvPr/>
        </p:nvSpPr>
        <p:spPr>
          <a:xfrm>
            <a:off x="3286760" y="5111750"/>
            <a:ext cx="894080" cy="619125"/>
          </a:xfrm>
          <a:prstGeom prst="rect">
            <a:avLst/>
          </a:prstGeom>
          <a:solidFill>
            <a:srgbClr val="F7F9FC"/>
          </a:solidFill>
          <a:ln w="3175">
            <a:solidFill>
              <a:srgbClr val="E1E8F0"/>
            </a:solidFill>
          </a:ln>
        </p:spPr>
        <p:txBody>
          <a:bodyPr wrap="square" lIns="68580" tIns="22860" rIns="68580" bIns="22860" anchor="ctr"/>
          <a:lstStyle/>
          <a:p>
            <a:pPr algn="r">
              <a:buNone/>
            </a:pPr>
            <a:r>
              <a:rPr lang="es-ES" sz="1400" dirty="0">
                <a:solidFill>
                  <a:srgbClr val="0F2A44"/>
                </a:solidFill>
              </a:rPr>
              <a:t>0.61</a:t>
            </a:r>
          </a:p>
        </p:txBody>
      </p:sp>
      <p:sp>
        <p:nvSpPr>
          <p:cNvPr id="1119" name="cell"/>
          <p:cNvSpPr/>
          <p:nvPr/>
        </p:nvSpPr>
        <p:spPr>
          <a:xfrm>
            <a:off x="4180840" y="5111750"/>
            <a:ext cx="894080" cy="619125"/>
          </a:xfrm>
          <a:prstGeom prst="rect">
            <a:avLst/>
          </a:prstGeom>
          <a:solidFill>
            <a:srgbClr val="F7F9FC"/>
          </a:solidFill>
          <a:ln w="3175">
            <a:solidFill>
              <a:srgbClr val="E1E8F0"/>
            </a:solidFill>
          </a:ln>
        </p:spPr>
        <p:txBody>
          <a:bodyPr wrap="square" lIns="68580" tIns="22860" rIns="68580" bIns="22860" anchor="ctr"/>
          <a:lstStyle/>
          <a:p>
            <a:pPr algn="r">
              <a:buNone/>
            </a:pPr>
            <a:r>
              <a:rPr lang="es-ES" sz="1400" dirty="0">
                <a:solidFill>
                  <a:srgbClr val="0F2A44"/>
                </a:solidFill>
              </a:rPr>
              <a:t>0.42</a:t>
            </a:r>
          </a:p>
        </p:txBody>
      </p:sp>
      <p:sp>
        <p:nvSpPr>
          <p:cNvPr id="1120" name="cell"/>
          <p:cNvSpPr/>
          <p:nvPr/>
        </p:nvSpPr>
        <p:spPr>
          <a:xfrm>
            <a:off x="5074920" y="5111750"/>
            <a:ext cx="894080" cy="619125"/>
          </a:xfrm>
          <a:prstGeom prst="rect">
            <a:avLst/>
          </a:prstGeom>
          <a:solidFill>
            <a:srgbClr val="F7F9FC"/>
          </a:solidFill>
          <a:ln w="3175">
            <a:solidFill>
              <a:srgbClr val="E1E8F0"/>
            </a:solidFill>
          </a:ln>
        </p:spPr>
        <p:txBody>
          <a:bodyPr wrap="square" lIns="68580" tIns="22860" rIns="68580" bIns="22860" anchor="ctr"/>
          <a:lstStyle/>
          <a:p>
            <a:pPr algn="r">
              <a:buNone/>
            </a:pPr>
            <a:r>
              <a:rPr lang="es-ES" sz="1400" dirty="0">
                <a:solidFill>
                  <a:srgbClr val="0F2A44"/>
                </a:solidFill>
              </a:rPr>
              <a:t>1 565</a:t>
            </a:r>
          </a:p>
        </p:txBody>
      </p:sp>
      <p:sp>
        <p:nvSpPr>
          <p:cNvPr id="1122" name="cell"/>
          <p:cNvSpPr/>
          <p:nvPr/>
        </p:nvSpPr>
        <p:spPr>
          <a:xfrm>
            <a:off x="381000" y="5730875"/>
            <a:ext cx="2011680" cy="619125"/>
          </a:xfrm>
          <a:prstGeom prst="rect">
            <a:avLst/>
          </a:prstGeom>
          <a:solidFill>
            <a:srgbClr val="FFFFFF"/>
          </a:solidFill>
          <a:ln w="3175">
            <a:solidFill>
              <a:srgbClr val="E1E8F0"/>
            </a:solidFill>
          </a:ln>
        </p:spPr>
        <p:txBody>
          <a:bodyPr wrap="square" lIns="190500" tIns="22860" rIns="68580" bIns="22860" anchor="ctr"/>
          <a:lstStyle/>
          <a:p>
            <a:pPr algn="l">
              <a:buNone/>
            </a:pPr>
            <a:r>
              <a:rPr lang="es-ES" sz="1400" dirty="0">
                <a:solidFill>
                  <a:srgbClr val="0F2A44"/>
                </a:solidFill>
              </a:rPr>
              <a:t>Accuracy</a:t>
            </a:r>
          </a:p>
        </p:txBody>
      </p:sp>
      <p:sp>
        <p:nvSpPr>
          <p:cNvPr id="1123" name="cell"/>
          <p:cNvSpPr/>
          <p:nvPr/>
        </p:nvSpPr>
        <p:spPr>
          <a:xfrm>
            <a:off x="2392680" y="5730875"/>
            <a:ext cx="894080" cy="619125"/>
          </a:xfrm>
          <a:prstGeom prst="rect">
            <a:avLst/>
          </a:prstGeom>
          <a:solidFill>
            <a:srgbClr val="FFFFFF"/>
          </a:solidFill>
          <a:ln w="3175">
            <a:solidFill>
              <a:srgbClr val="E1E8F0"/>
            </a:solidFill>
          </a:ln>
        </p:spPr>
        <p:txBody>
          <a:bodyPr wrap="square" lIns="68580" tIns="22860" rIns="68580" bIns="22860" anchor="ctr"/>
          <a:lstStyle/>
          <a:p>
            <a:pPr algn="r">
              <a:buNone/>
            </a:pPr>
            <a:endParaRPr/>
          </a:p>
        </p:txBody>
      </p:sp>
      <p:sp>
        <p:nvSpPr>
          <p:cNvPr id="1124" name="cell"/>
          <p:cNvSpPr/>
          <p:nvPr/>
        </p:nvSpPr>
        <p:spPr>
          <a:xfrm>
            <a:off x="3286760" y="5730875"/>
            <a:ext cx="894080" cy="619125"/>
          </a:xfrm>
          <a:prstGeom prst="rect">
            <a:avLst/>
          </a:prstGeom>
          <a:solidFill>
            <a:srgbClr val="FFFFFF"/>
          </a:solidFill>
          <a:ln w="3175">
            <a:solidFill>
              <a:srgbClr val="E1E8F0"/>
            </a:solidFill>
          </a:ln>
        </p:spPr>
        <p:txBody>
          <a:bodyPr wrap="square" lIns="68580" tIns="22860" rIns="68580" bIns="22860" anchor="ctr"/>
          <a:lstStyle/>
          <a:p>
            <a:pPr algn="r">
              <a:buNone/>
            </a:pPr>
            <a:endParaRPr/>
          </a:p>
        </p:txBody>
      </p:sp>
      <p:sp>
        <p:nvSpPr>
          <p:cNvPr id="1125" name="cell"/>
          <p:cNvSpPr/>
          <p:nvPr/>
        </p:nvSpPr>
        <p:spPr>
          <a:xfrm>
            <a:off x="4180840" y="5730875"/>
            <a:ext cx="894080" cy="619125"/>
          </a:xfrm>
          <a:prstGeom prst="rect">
            <a:avLst/>
          </a:prstGeom>
          <a:solidFill>
            <a:srgbClr val="FFFFFF"/>
          </a:solidFill>
          <a:ln w="3175">
            <a:solidFill>
              <a:srgbClr val="E1E8F0"/>
            </a:solidFill>
          </a:ln>
        </p:spPr>
        <p:txBody>
          <a:bodyPr wrap="square" lIns="68580" tIns="22860" rIns="68580" bIns="22860" anchor="ctr"/>
          <a:lstStyle/>
          <a:p>
            <a:pPr algn="r">
              <a:buNone/>
            </a:pPr>
            <a:r>
              <a:rPr lang="es-ES" sz="1400" dirty="0">
                <a:solidFill>
                  <a:srgbClr val="0F2A44"/>
                </a:solidFill>
              </a:rPr>
              <a:t>0.86</a:t>
            </a:r>
          </a:p>
        </p:txBody>
      </p:sp>
      <p:sp>
        <p:nvSpPr>
          <p:cNvPr id="1126" name="cell"/>
          <p:cNvSpPr/>
          <p:nvPr/>
        </p:nvSpPr>
        <p:spPr>
          <a:xfrm>
            <a:off x="5074920" y="5730875"/>
            <a:ext cx="894080" cy="619125"/>
          </a:xfrm>
          <a:prstGeom prst="rect">
            <a:avLst/>
          </a:prstGeom>
          <a:solidFill>
            <a:srgbClr val="FFFFFF"/>
          </a:solidFill>
          <a:ln w="3175">
            <a:solidFill>
              <a:srgbClr val="E1E8F0"/>
            </a:solidFill>
          </a:ln>
        </p:spPr>
        <p:txBody>
          <a:bodyPr wrap="square" lIns="68580" tIns="22860" rIns="68580" bIns="22860" anchor="ctr"/>
          <a:lstStyle/>
          <a:p>
            <a:pPr algn="r">
              <a:buNone/>
            </a:pPr>
            <a:r>
              <a:rPr lang="es-ES" sz="1400" dirty="0">
                <a:solidFill>
                  <a:srgbClr val="0F2A44"/>
                </a:solidFill>
              </a:rPr>
              <a:t>19 294</a:t>
            </a:r>
          </a:p>
        </p:txBody>
      </p:sp>
      <p:sp>
        <p:nvSpPr>
          <p:cNvPr id="1128" name="ft_h"/>
          <p:cNvSpPr/>
          <p:nvPr/>
        </p:nvSpPr>
        <p:spPr>
          <a:xfrm>
            <a:off x="6223000" y="3365500"/>
            <a:ext cx="5588000" cy="5080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s-ES" sz="1600" b="1" dirty="0">
                <a:solidFill>
                  <a:srgbClr val="FFFFFF"/>
                </a:solidFill>
              </a:rPr>
              <a:t>Top 5 features · importancia</a:t>
            </a:r>
          </a:p>
        </p:txBody>
      </p:sp>
      <p:sp>
        <p:nvSpPr>
          <p:cNvPr id="1129" name="ft_lbl"/>
          <p:cNvSpPr txBox="1"/>
          <p:nvPr/>
        </p:nvSpPr>
        <p:spPr>
          <a:xfrm>
            <a:off x="6350000" y="4000500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sz="1300" b="1" dirty="0">
                <a:solidFill>
                  <a:srgbClr val="0F2A44"/>
                </a:solidFill>
                <a:latin typeface="Consolas"/>
              </a:rPr>
              <a:t>review_score</a:t>
            </a:r>
          </a:p>
        </p:txBody>
      </p:sp>
      <p:sp>
        <p:nvSpPr>
          <p:cNvPr id="1130" name="ft_bg"/>
          <p:cNvSpPr/>
          <p:nvPr/>
        </p:nvSpPr>
        <p:spPr>
          <a:xfrm>
            <a:off x="8001000" y="4102100"/>
            <a:ext cx="3048000" cy="152400"/>
          </a:xfrm>
          <a:prstGeom prst="roundRect">
            <a:avLst>
              <a:gd name="adj" fmla="val 50000"/>
            </a:avLst>
          </a:prstGeom>
          <a:solidFill>
            <a:srgbClr val="E1E8F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1" name="ft_bar"/>
          <p:cNvSpPr/>
          <p:nvPr/>
        </p:nvSpPr>
        <p:spPr>
          <a:xfrm>
            <a:off x="8001000" y="4102100"/>
            <a:ext cx="3048000" cy="1524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2" name="ft_v"/>
          <p:cNvSpPr txBox="1"/>
          <p:nvPr/>
        </p:nvSpPr>
        <p:spPr>
          <a:xfrm>
            <a:off x="11150600" y="4000500"/>
            <a:ext cx="5334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s-ES" sz="1300" b="1" dirty="0">
                <a:solidFill>
                  <a:srgbClr val="0F2A44"/>
                </a:solidFill>
              </a:rPr>
              <a:t>0.545</a:t>
            </a:r>
          </a:p>
        </p:txBody>
      </p:sp>
      <p:sp>
        <p:nvSpPr>
          <p:cNvPr id="1133" name="ft_lbl"/>
          <p:cNvSpPr txBox="1"/>
          <p:nvPr/>
        </p:nvSpPr>
        <p:spPr>
          <a:xfrm>
            <a:off x="6350000" y="4457700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sz="1300" b="1" dirty="0">
                <a:solidFill>
                  <a:srgbClr val="0F2A44"/>
                </a:solidFill>
                <a:latin typeface="Consolas"/>
              </a:rPr>
              <a:t>dias_prometidos</a:t>
            </a:r>
          </a:p>
        </p:txBody>
      </p:sp>
      <p:sp>
        <p:nvSpPr>
          <p:cNvPr id="1134" name="ft_bg"/>
          <p:cNvSpPr/>
          <p:nvPr/>
        </p:nvSpPr>
        <p:spPr>
          <a:xfrm>
            <a:off x="8001000" y="4559300"/>
            <a:ext cx="3048000" cy="152400"/>
          </a:xfrm>
          <a:prstGeom prst="roundRect">
            <a:avLst>
              <a:gd name="adj" fmla="val 50000"/>
            </a:avLst>
          </a:prstGeom>
          <a:solidFill>
            <a:srgbClr val="E1E8F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5" name="ft_bar"/>
          <p:cNvSpPr/>
          <p:nvPr/>
        </p:nvSpPr>
        <p:spPr>
          <a:xfrm>
            <a:off x="8001000" y="4559300"/>
            <a:ext cx="762000" cy="1524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6" name="ft_v"/>
          <p:cNvSpPr txBox="1"/>
          <p:nvPr/>
        </p:nvSpPr>
        <p:spPr>
          <a:xfrm>
            <a:off x="11150600" y="4457700"/>
            <a:ext cx="5334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s-ES" sz="1300" b="1" dirty="0">
                <a:solidFill>
                  <a:srgbClr val="0F2A44"/>
                </a:solidFill>
              </a:rPr>
              <a:t>0.136</a:t>
            </a:r>
          </a:p>
        </p:txBody>
      </p:sp>
      <p:sp>
        <p:nvSpPr>
          <p:cNvPr id="1137" name="ft_lbl"/>
          <p:cNvSpPr txBox="1"/>
          <p:nvPr/>
        </p:nvSpPr>
        <p:spPr>
          <a:xfrm>
            <a:off x="6350000" y="4914900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sz="1300" b="1" dirty="0">
                <a:solidFill>
                  <a:srgbClr val="0F2A44"/>
                </a:solidFill>
                <a:latin typeface="Consolas"/>
              </a:rPr>
              <a:t>estado_cliente</a:t>
            </a:r>
          </a:p>
        </p:txBody>
      </p:sp>
      <p:sp>
        <p:nvSpPr>
          <p:cNvPr id="1138" name="ft_bg"/>
          <p:cNvSpPr/>
          <p:nvPr/>
        </p:nvSpPr>
        <p:spPr>
          <a:xfrm>
            <a:off x="8001000" y="5016500"/>
            <a:ext cx="3048000" cy="152400"/>
          </a:xfrm>
          <a:prstGeom prst="roundRect">
            <a:avLst>
              <a:gd name="adj" fmla="val 50000"/>
            </a:avLst>
          </a:prstGeom>
          <a:solidFill>
            <a:srgbClr val="E1E8F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9" name="ft_bar"/>
          <p:cNvSpPr/>
          <p:nvPr/>
        </p:nvSpPr>
        <p:spPr>
          <a:xfrm>
            <a:off x="8001000" y="5016500"/>
            <a:ext cx="355600" cy="1524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0" name="ft_v"/>
          <p:cNvSpPr txBox="1"/>
          <p:nvPr/>
        </p:nvSpPr>
        <p:spPr>
          <a:xfrm>
            <a:off x="11150600" y="4914900"/>
            <a:ext cx="5334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s-ES" sz="1300" b="1" dirty="0">
                <a:solidFill>
                  <a:srgbClr val="0F2A44"/>
                </a:solidFill>
              </a:rPr>
              <a:t>0.063</a:t>
            </a:r>
          </a:p>
        </p:txBody>
      </p:sp>
      <p:sp>
        <p:nvSpPr>
          <p:cNvPr id="1141" name="ft_lbl"/>
          <p:cNvSpPr txBox="1"/>
          <p:nvPr/>
        </p:nvSpPr>
        <p:spPr>
          <a:xfrm>
            <a:off x="6350000" y="5372100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sz="1300" b="1" dirty="0">
                <a:solidFill>
                  <a:srgbClr val="0F2A44"/>
                </a:solidFill>
                <a:latin typeface="Consolas"/>
              </a:rPr>
              <a:t>pago_valor</a:t>
            </a:r>
          </a:p>
        </p:txBody>
      </p:sp>
      <p:sp>
        <p:nvSpPr>
          <p:cNvPr id="1142" name="ft_bg"/>
          <p:cNvSpPr/>
          <p:nvPr/>
        </p:nvSpPr>
        <p:spPr>
          <a:xfrm>
            <a:off x="8001000" y="5473700"/>
            <a:ext cx="3048000" cy="152400"/>
          </a:xfrm>
          <a:prstGeom prst="roundRect">
            <a:avLst>
              <a:gd name="adj" fmla="val 50000"/>
            </a:avLst>
          </a:prstGeom>
          <a:solidFill>
            <a:srgbClr val="E1E8F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3" name="ft_bar"/>
          <p:cNvSpPr/>
          <p:nvPr/>
        </p:nvSpPr>
        <p:spPr>
          <a:xfrm>
            <a:off x="8001000" y="5473700"/>
            <a:ext cx="342900" cy="15240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4" name="ft_v"/>
          <p:cNvSpPr txBox="1"/>
          <p:nvPr/>
        </p:nvSpPr>
        <p:spPr>
          <a:xfrm>
            <a:off x="11150600" y="5372100"/>
            <a:ext cx="5334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s-ES" sz="1300" b="1" dirty="0">
                <a:solidFill>
                  <a:srgbClr val="0F2A44"/>
                </a:solidFill>
              </a:rPr>
              <a:t>0.062</a:t>
            </a:r>
          </a:p>
        </p:txBody>
      </p:sp>
      <p:sp>
        <p:nvSpPr>
          <p:cNvPr id="1145" name="ft_lbl"/>
          <p:cNvSpPr txBox="1"/>
          <p:nvPr/>
        </p:nvSpPr>
        <p:spPr>
          <a:xfrm>
            <a:off x="6350000" y="5829300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sz="1300" b="1" dirty="0">
                <a:solidFill>
                  <a:srgbClr val="0F2A44"/>
                </a:solidFill>
                <a:latin typeface="Consolas"/>
              </a:rPr>
              <a:t>volumen_cm3</a:t>
            </a:r>
          </a:p>
        </p:txBody>
      </p:sp>
      <p:sp>
        <p:nvSpPr>
          <p:cNvPr id="1146" name="ft_bg"/>
          <p:cNvSpPr/>
          <p:nvPr/>
        </p:nvSpPr>
        <p:spPr>
          <a:xfrm>
            <a:off x="8001000" y="5930900"/>
            <a:ext cx="3048000" cy="152400"/>
          </a:xfrm>
          <a:prstGeom prst="roundRect">
            <a:avLst>
              <a:gd name="adj" fmla="val 50000"/>
            </a:avLst>
          </a:prstGeom>
          <a:solidFill>
            <a:srgbClr val="E1E8F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7" name="ft_bar"/>
          <p:cNvSpPr/>
          <p:nvPr/>
        </p:nvSpPr>
        <p:spPr>
          <a:xfrm>
            <a:off x="8001000" y="5930900"/>
            <a:ext cx="304800" cy="152400"/>
          </a:xfrm>
          <a:prstGeom prst="roundRect">
            <a:avLst>
              <a:gd name="adj" fmla="val 50000"/>
            </a:avLst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8" name="ft_v"/>
          <p:cNvSpPr txBox="1"/>
          <p:nvPr/>
        </p:nvSpPr>
        <p:spPr>
          <a:xfrm>
            <a:off x="11150600" y="5829300"/>
            <a:ext cx="5334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s-ES" sz="1300" b="1" dirty="0">
                <a:solidFill>
                  <a:srgbClr val="0F2A44"/>
                </a:solidFill>
              </a:rPr>
              <a:t>0.055</a:t>
            </a:r>
          </a:p>
        </p:txBody>
      </p:sp>
    </p:spTree>
    <p:extLst>
      <p:ext uri="{BB962C8B-B14F-4D97-AF65-F5344CB8AC3E}">
        <p14:creationId xmlns:p14="http://schemas.microsoft.com/office/powerpoint/2010/main" val="2169415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190EE-9045-6EAF-31C2-52C4A4647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600" b="1" dirty="0">
                <a:solidFill>
                  <a:srgbClr val="1B3A5C"/>
                </a:solidFill>
              </a:rPr>
              <a:t>Discusión y mejoras</a:t>
            </a:r>
          </a:p>
        </p:txBody>
      </p:sp>
      <p:sp>
        <p:nvSpPr>
          <p:cNvPr id="1200" name="p_h"/>
          <p:cNvSpPr/>
          <p:nvPr/>
        </p:nvSpPr>
        <p:spPr>
          <a:xfrm>
            <a:off x="381000" y="1905000"/>
            <a:ext cx="3683000" cy="635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s-ES" sz="2000" b="1" dirty="0">
                <a:solidFill>
                  <a:srgbClr val="FFFFFF"/>
                </a:solidFill>
              </a:rPr>
              <a:t>★  Hallazgos</a:t>
            </a:r>
          </a:p>
        </p:txBody>
      </p:sp>
      <p:sp>
        <p:nvSpPr>
          <p:cNvPr id="1201" name="p_b"/>
          <p:cNvSpPr/>
          <p:nvPr/>
        </p:nvSpPr>
        <p:spPr>
          <a:xfrm>
            <a:off x="381000" y="2540000"/>
            <a:ext cx="3683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1B3A5C"/>
            </a:solidFill>
          </a:ln>
        </p:spPr>
        <p:txBody>
          <a:bodyPr wrap="square" lIns="91440" tIns="91440" rIns="91440" bIns="91440" anchor="t"/>
          <a:lstStyle/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s-ES" sz="1500" dirty="0">
                <a:solidFill>
                  <a:srgbClr val="0F2A44"/>
                </a:solidFill>
              </a:rPr>
              <a:t>review_score domina (54.5%): la reseña captura el resultado de la entrega.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s-ES" sz="1500" dirty="0">
                <a:solidFill>
                  <a:srgbClr val="0F2A44"/>
                </a:solidFill>
              </a:rPr>
              <a:t>dias_prometidos (13.6%): plazos largos correlacionan con más retrasos.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s-ES" sz="1500" dirty="0">
                <a:solidFill>
                  <a:srgbClr val="0F2A44"/>
                </a:solidFill>
              </a:rPr>
              <a:t>Geografía importa: estado del cliente entre el top 5.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s-ES" sz="1500" dirty="0">
                <a:solidFill>
                  <a:srgbClr val="0F2A44"/>
                </a:solidFill>
              </a:rPr>
              <a:t>El modelo prioriza recall sobre precisión — útil para alertas tempranas.</a:t>
            </a:r>
          </a:p>
        </p:txBody>
      </p:sp>
      <p:sp>
        <p:nvSpPr>
          <p:cNvPr id="1202" name="p_h"/>
          <p:cNvSpPr/>
          <p:nvPr/>
        </p:nvSpPr>
        <p:spPr>
          <a:xfrm>
            <a:off x="4254500" y="1905000"/>
            <a:ext cx="3683000" cy="635000"/>
          </a:xfrm>
          <a:prstGeom prst="rect">
            <a:avLst/>
          </a:prstGeom>
          <a:solidFill>
            <a:srgbClr val="A56B2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s-ES" sz="2000" b="1" dirty="0">
                <a:solidFill>
                  <a:srgbClr val="FFFFFF"/>
                </a:solidFill>
              </a:rPr>
              <a:t>⚠  Limitaciones</a:t>
            </a:r>
          </a:p>
        </p:txBody>
      </p:sp>
      <p:sp>
        <p:nvSpPr>
          <p:cNvPr id="1203" name="p_b"/>
          <p:cNvSpPr/>
          <p:nvPr/>
        </p:nvSpPr>
        <p:spPr>
          <a:xfrm>
            <a:off x="4254500" y="2540000"/>
            <a:ext cx="3683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56B2E"/>
            </a:solidFill>
          </a:ln>
        </p:spPr>
        <p:txBody>
          <a:bodyPr wrap="square" lIns="91440" tIns="91440" rIns="91440" bIns="91440" anchor="t"/>
          <a:lstStyle/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s-ES" sz="1500" dirty="0">
                <a:solidFill>
                  <a:srgbClr val="0F2A44"/>
                </a:solidFill>
              </a:rPr>
              <a:t>Recall 0.61 deja ~39% de retrasos sin detectar.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s-ES" sz="1500" dirty="0">
                <a:solidFill>
                  <a:srgbClr val="0F2A44"/>
                </a:solidFill>
              </a:rPr>
              <a:t>Precisión 0.32: 2 de cada 3 alertas son falsos positivos.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s-ES" sz="1500" dirty="0">
                <a:solidFill>
                  <a:srgbClr val="0F2A44"/>
                </a:solidFill>
              </a:rPr>
              <a:t>review_score solo existe ex-post — no usable en tiempo real.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s-ES" sz="1500" dirty="0">
                <a:solidFill>
                  <a:srgbClr val="0F2A44"/>
                </a:solidFill>
              </a:rPr>
              <a:t>Dataset desbalanceado (8.1%) limita el F1 alcanzable.</a:t>
            </a:r>
          </a:p>
        </p:txBody>
      </p:sp>
      <p:sp>
        <p:nvSpPr>
          <p:cNvPr id="1204" name="p_h"/>
          <p:cNvSpPr/>
          <p:nvPr/>
        </p:nvSpPr>
        <p:spPr>
          <a:xfrm>
            <a:off x="8128000" y="1905000"/>
            <a:ext cx="3683000" cy="6350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s-ES" sz="2000" b="1" dirty="0">
                <a:solidFill>
                  <a:srgbClr val="FFFFFF"/>
                </a:solidFill>
              </a:rPr>
              <a:t>➞  Mejoras propuestas</a:t>
            </a:r>
          </a:p>
        </p:txBody>
      </p:sp>
      <p:sp>
        <p:nvSpPr>
          <p:cNvPr id="1205" name="p_b"/>
          <p:cNvSpPr/>
          <p:nvPr/>
        </p:nvSpPr>
        <p:spPr>
          <a:xfrm>
            <a:off x="8128000" y="2540000"/>
            <a:ext cx="3683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1F7A6F"/>
            </a:solidFill>
          </a:ln>
        </p:spPr>
        <p:txBody>
          <a:bodyPr wrap="square" lIns="91440" tIns="91440" rIns="91440" bIns="91440" anchor="t"/>
          <a:lstStyle/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s-ES" sz="1500" dirty="0">
                <a:solidFill>
                  <a:srgbClr val="0F2A44"/>
                </a:solidFill>
              </a:rPr>
              <a:t>Entrenar variante sin review_score para predicción previa al envío.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s-ES" sz="1500" dirty="0">
                <a:solidFill>
                  <a:srgbClr val="0F2A44"/>
                </a:solidFill>
              </a:rPr>
              <a:t>Probar XGBoost / LightGBM y comparar con baseline.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s-ES" sz="1500" dirty="0">
                <a:solidFill>
                  <a:srgbClr val="0F2A44"/>
                </a:solidFill>
              </a:rPr>
              <a:t>Threshold tuning con curva precision-recall.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s-ES" sz="1500" dirty="0">
                <a:solidFill>
                  <a:srgbClr val="0F2A44"/>
                </a:solidFill>
              </a:rPr>
              <a:t>Incorporar variables geo-temporales (festivos, distancia).</a:t>
            </a:r>
          </a:p>
        </p:txBody>
      </p:sp>
    </p:spTree>
    <p:extLst>
      <p:ext uri="{BB962C8B-B14F-4D97-AF65-F5344CB8AC3E}">
        <p14:creationId xmlns:p14="http://schemas.microsoft.com/office/powerpoint/2010/main" val="250378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0529242372]">
  <a:themeElements>
    <a:clrScheme name="Office">
      <a:dk1>
        <a:srgbClr val="0F2A44"/>
      </a:dk1>
      <a:lt1>
        <a:srgbClr val="F7F9FC"/>
      </a:lt1>
      <a:dk2>
        <a:srgbClr val="1B3A5C"/>
      </a:dk2>
      <a:lt2>
        <a:srgbClr val="E1E8F0"/>
      </a:lt2>
      <a:accent1>
        <a:srgbClr val="1B3A5C"/>
      </a:accent1>
      <a:accent2>
        <a:srgbClr val="2A9D8F"/>
      </a:accent2>
      <a:accent3>
        <a:srgbClr val="E76F51"/>
      </a:accent3>
      <a:accent4>
        <a:srgbClr val="F4A261"/>
      </a:accent4>
      <a:accent5>
        <a:srgbClr val="264653"/>
      </a:accent5>
      <a:accent6>
        <a:srgbClr val="8AB0AB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53DED94-CA83-41FC-8325-E7A0879A706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3bfadd8-121e-4ce5-9e94-42715929ebd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1097</Words>
  <Application>Microsoft Office PowerPoint</Application>
  <PresentationFormat>Widescreen</PresentationFormat>
  <Paragraphs>238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Consolas</vt:lpstr>
      <vt:lpstr>Montserrat</vt:lpstr>
      <vt:lpstr>Open Sans</vt:lpstr>
      <vt:lpstr>Office Theme [1780529242372]</vt:lpstr>
      <vt:lpstr>DataFlow Pipeline de Datos con Modelo Predictivo</vt:lpstr>
      <vt:lpstr>Contexto y justificación</vt:lpstr>
      <vt:lpstr>Arquitectura del pipeline</vt:lpstr>
      <vt:lpstr>MER y modelo relacional</vt:lpstr>
      <vt:lpstr>Proceso ETL etl/pipeline_etl.ipynb — Python + SQLAlchemy + PyMongo</vt:lpstr>
      <vt:lpstr>MongoDB — documentos cargados db.dataflow.pedidos — un documento por pedido con estructura anidada</vt:lpstr>
      <vt:lpstr>MongoDB — consultas mongodb/consultas_mongo.ipynb — ejecutadas con PyMongo</vt:lpstr>
      <vt:lpstr>Modelo predictivo — setup Random Forest — clasificación binaria de entrega tardía</vt:lpstr>
      <vt:lpstr>Resultados del modelo</vt:lpstr>
      <vt:lpstr>Discusión y mejoras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ALFONSO ARCINIEGAS BETANCOURT</dc:creator>
  <cp:lastModifiedBy>NICOLAS ALFONSO ARCINIEGAS BETANCOURT</cp:lastModifiedBy>
  <cp:revision>2</cp:revision>
  <dcterms:created xsi:type="dcterms:W3CDTF">2026-06-03T23:27:22Z</dcterms:created>
  <dcterms:modified xsi:type="dcterms:W3CDTF">2026-06-04T00:03:35Z</dcterms:modified>
</cp:coreProperties>
</file>