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2" r:id="rId4"/>
    <p:sldId id="264" r:id="rId5"/>
    <p:sldId id="266" r:id="rId6"/>
    <p:sldId id="284" r:id="rId7"/>
    <p:sldId id="268" r:id="rId8"/>
    <p:sldId id="270" r:id="rId9"/>
    <p:sldId id="272" r:id="rId10"/>
    <p:sldId id="275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ALFONSO ARCINIEGAS BETANCOURT" userId="6a9b1b3a-125e-4863-9c4e-895a9abacc52" providerId="ADAL" clId="{E7654026-7463-4687-8065-D062C074F9C9}"/>
    <pc:docChg chg="undo custSel modSld">
      <pc:chgData name="NICOLAS ALFONSO ARCINIEGAS BETANCOURT" userId="6a9b1b3a-125e-4863-9c4e-895a9abacc52" providerId="ADAL" clId="{E7654026-7463-4687-8065-D062C074F9C9}" dt="2026-06-04T00:29:22.065" v="48" actId="20577"/>
      <pc:docMkLst>
        <pc:docMk/>
      </pc:docMkLst>
      <pc:sldChg chg="modSp mod">
        <pc:chgData name="NICOLAS ALFONSO ARCINIEGAS BETANCOURT" userId="6a9b1b3a-125e-4863-9c4e-895a9abacc52" providerId="ADAL" clId="{E7654026-7463-4687-8065-D062C074F9C9}" dt="2026-06-04T00:29:22.065" v="48" actId="20577"/>
        <pc:sldMkLst>
          <pc:docMk/>
          <pc:sldMk cId="4192779311" sldId="260"/>
        </pc:sldMkLst>
        <pc:spChg chg="mod">
          <ac:chgData name="NICOLAS ALFONSO ARCINIEGAS BETANCOURT" userId="6a9b1b3a-125e-4863-9c4e-895a9abacc52" providerId="ADAL" clId="{E7654026-7463-4687-8065-D062C074F9C9}" dt="2026-06-04T00:29:22.065" v="48" actId="20577"/>
          <ac:spMkLst>
            <pc:docMk/>
            <pc:sldMk cId="4192779311" sldId="260"/>
            <ac:spMk id="3" creationId="{E3C73217-5176-C479-E815-5E5311C754F9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A2332"/>
                </a:solidFill>
                <a:latin typeface="Georgia"/>
              </a:defRPr>
            </a:pPr>
            <a:r>
              <a:rPr lang="es-ES" sz="1600" b="1">
                <a:solidFill>
                  <a:srgbClr val="1A2332"/>
                </a:solidFill>
                <a:latin typeface="Georgia"/>
              </a:rPr>
              <a:t>Feature importance · Top 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Importancia</c:v>
          </c:tx>
          <c:spPr>
            <a:solidFill>
              <a:srgbClr val="2C4A6B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A2332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cats</c:f>
              <c:strCache>
                <c:ptCount val="5"/>
                <c:pt idx="0">
                  <c:v>volumen_cm3</c:v>
                </c:pt>
                <c:pt idx="1">
                  <c:v>pago_valor</c:v>
                </c:pt>
                <c:pt idx="2">
                  <c:v>estado_cliente</c:v>
                </c:pt>
                <c:pt idx="3">
                  <c:v>dias_prometidos</c:v>
                </c:pt>
                <c:pt idx="4">
                  <c:v>review_score</c:v>
                </c:pt>
              </c:strCache>
            </c:strRef>
          </c:cat>
          <c:val>
            <c:numRef>
              <c:f>vals</c:f>
              <c:numCache>
                <c:formatCode>0.000</c:formatCode>
                <c:ptCount val="5"/>
                <c:pt idx="0">
                  <c:v>5.5E-2</c:v>
                </c:pt>
                <c:pt idx="1">
                  <c:v>6.2E-2</c:v>
                </c:pt>
                <c:pt idx="2">
                  <c:v>6.3E-2</c:v>
                </c:pt>
                <c:pt idx="3">
                  <c:v>0.13600000000000001</c:v>
                </c:pt>
                <c:pt idx="4">
                  <c:v>0.54500000000000004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F55-4429-8555-18BB23CABF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1A2332"/>
                </a:solidFill>
              </a:defRPr>
            </a:pPr>
            <a:endParaRPr lang="es-E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b"/>
        <c:numFmt formatCode="0.000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FC6D8-84C6-1A6B-4842-12B7B1E05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1483C-AF4C-60A0-70E5-18F0F015E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7E3B6-8CFD-AE25-0AE0-55EF931D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2245C-64F1-3022-C194-2D0E6D74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954D6-154E-49EA-0B00-DE0B0255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5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81CF-02AB-2EAB-CBF4-A23363CC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56EAC-9CCA-0818-7547-CA8402B08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FE89F-C996-8418-C400-F1C4F381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5AA75-EDC1-FD51-56E6-A324EFB5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0CF21-45C8-5336-23B2-5A16DC68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2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127C-EBC6-4832-5115-6FB4710C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E0FC4-E70F-E54D-E70A-0E3EAD171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BBC4A-E16D-F942-662F-B626DC5E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091FF-A5AD-2EDC-FD41-CD65D8BF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16FEA-0451-F8E0-14D4-BD490782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8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580A-8574-AB18-6121-A38B1BED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F47E7-C121-F109-B7CC-04761048A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C82BC-CB89-31E6-17F1-FA6F8A44C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FF1E7-B021-80DA-99C7-173DEF27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B1D48-C822-FB14-D670-B9763640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F9A29-66CE-628B-574E-42298BB3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9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0539-CA86-4A2D-A0D4-E959DEAC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050A5-7A5B-111E-A313-E84A2373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12E71-EE56-F119-AC88-B6AFDC9D1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855609-6E48-6C8C-A042-8C8C3E09B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D0A6E-CB83-5A84-7D1B-EB7231152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361FB-F39B-13AB-153E-1CDEDCAF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372BDA-ACCC-99DD-15ED-15895A19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88E04-5926-3D4D-8A0F-3D6731C9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55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07C62-9F11-DF51-C5E8-E96CD662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F3576-403F-264E-E8EA-3FE85306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0FAAC-1C88-B0A4-63F8-CC569365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F7E76-E57D-BC06-8519-09127B05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8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A511E-3AE9-AB8F-EA8D-0A6AB9BB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1C18C-F901-D5EC-80B8-36059251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87CBD-994D-7861-AA0B-98B20D38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6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C747-7366-837D-E939-E32468F5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46AB-A877-48AB-F93E-79256660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7EEE5-2439-9FA3-3767-6CFC6089E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87449-E5D3-D013-CBE3-1DF065039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2BA44-4AE8-196A-7163-592B5C8A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E5561-DDD4-6920-A31E-E7E9061F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8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67691-69CA-045E-EE90-82E34065F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DAAB0-7F41-9C06-A878-20C71C633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BB0E6-C103-DAED-1206-5ECB96150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8B800-DE53-723E-AA22-EA79CD306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A7498-6365-2DF2-EB79-D47F4415A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7BD12-8666-5AE7-76A9-63138558F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6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DD93F-0BF5-5B8F-A91D-A2503622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AEC68-632D-8DFD-C40C-78D6F7C4C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E5DC3-8496-2CDA-0D4D-30697304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B2B4-8022-8C61-5AC2-FD97D53C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8F8E5-A094-52E7-2900-8F6FEB6C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3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EE0E3-C9F8-7ADC-5B49-AB3B83FEA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BF845-1F24-8435-35AD-A81780945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19D1D-9073-929B-014C-F7150C0A9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00D38-4E11-DA28-1B5F-749E84DB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7E72F-F2ED-2539-D6C8-F271BE8AD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9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2ADAC6-3A65-1206-E18C-C13FB1FB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80916-7E45-5957-6990-FA300453B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8B3C3-1770-8247-2523-990BF4DC3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2A8D2-B33E-4704-AEAC-E922A5E226A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7F2A6-A984-A458-A4F8-4358DFD3D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D5C9-C130-8E42-A579-4514076E1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0BA4D-4BD4-47EE-B43B-95B40BAD0809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Line"/>
          <p:cNvSpPr/>
          <p:nvPr userDrawn="1"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2A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MasterFooter"/>
          <p:cNvSpPr txBox="1"/>
          <p:nvPr userDrawn="1"/>
        </p:nvSpPr>
        <p:spPr>
          <a:xfrm>
            <a:off x="6400800" y="6400800"/>
            <a:ext cx="5181600" cy="304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es-ES" sz="1000" i="1">
                <a:solidFill>
                  <a:srgbClr val="3C5A7C"/>
                </a:solidFill>
              </a:rPr>
              <a:t>DataFlow Pipeline · SQL y NoSQL · Universidad EAN</a:t>
            </a:r>
          </a:p>
        </p:txBody>
      </p:sp>
    </p:spTree>
    <p:extLst>
      <p:ext uri="{BB962C8B-B14F-4D97-AF65-F5344CB8AC3E}">
        <p14:creationId xmlns:p14="http://schemas.microsoft.com/office/powerpoint/2010/main" val="182901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33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233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233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33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5FD8-BD4F-11C9-24F0-CA8B41BC8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s-ES" sz="1400" b="0">
                <a:solidFill>
                  <a:srgbClr val="8B2A2A"/>
                </a:solidFill>
              </a:rPr>
              <a:t>PROYECTO FINAL</a:t>
            </a:r>
          </a:p>
          <a:p>
            <a:pPr algn="ctr">
              <a:buNone/>
            </a:pPr>
            <a:r>
              <a:rPr lang="es-ES" sz="5400" b="1">
                <a:solidFill>
                  <a:srgbClr val="1A2332"/>
                </a:solidFill>
              </a:rPr>
              <a:t>DataFlow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76873-C749-1D39-7B2D-76BA8B1AB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s-ES" sz="2000" i="1">
                <a:solidFill>
                  <a:srgbClr val="3C5A7C"/>
                </a:solidFill>
              </a:rPr>
              <a:t>SQL → ETL → MongoDB → Modelo Predictivo</a:t>
            </a:r>
          </a:p>
          <a:p>
            <a:pPr algn="ctr">
              <a:buNone/>
            </a:pPr>
            <a:r>
              <a:rPr lang="es-ES" sz="1400">
                <a:solidFill>
                  <a:srgbClr val="1A2332"/>
                </a:solidFill>
              </a:rPr>
              <a:t>SQL y NoSQL para Analíticas de Datos</a:t>
            </a:r>
          </a:p>
          <a:p>
            <a:pPr algn="ctr">
              <a:buNone/>
            </a:pPr>
            <a:r>
              <a:rPr lang="es-ES" sz="1400">
                <a:solidFill>
                  <a:srgbClr val="1A2332"/>
                </a:solidFill>
              </a:rPr>
              <a:t>Maestría en Ciencia de Datos · Universidad EAN</a:t>
            </a:r>
          </a:p>
        </p:txBody>
      </p:sp>
    </p:spTree>
    <p:extLst>
      <p:ext uri="{BB962C8B-B14F-4D97-AF65-F5344CB8AC3E}">
        <p14:creationId xmlns:p14="http://schemas.microsoft.com/office/powerpoint/2010/main" val="218768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67965-0C22-E0D0-320B-12FBBECF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3600" b="1">
                <a:solidFill>
                  <a:srgbClr val="1A2332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3217-5176-C479-E815-5E5311C75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b="1" dirty="0">
                <a:solidFill>
                  <a:srgbClr val="8B2A2A"/>
                </a:solidFill>
                <a:latin typeface="Georgia"/>
              </a:rPr>
              <a:t>01  </a:t>
            </a:r>
            <a:r>
              <a:rPr lang="es-ES" sz="2000" b="1" dirty="0">
                <a:solidFill>
                  <a:srgbClr val="1A2332"/>
                </a:solidFill>
              </a:rPr>
              <a:t>Contexto y justificación del pipeline</a:t>
            </a:r>
            <a:r>
              <a:rPr lang="es-ES" sz="1600" i="1" dirty="0">
                <a:solidFill>
                  <a:srgbClr val="3C5A7C"/>
                </a:solidFill>
              </a:rPr>
              <a:t>   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b="1" dirty="0">
                <a:solidFill>
                  <a:srgbClr val="8B2A2A"/>
                </a:solidFill>
                <a:latin typeface="Georgia"/>
              </a:rPr>
              <a:t>02  </a:t>
            </a:r>
            <a:r>
              <a:rPr lang="es-ES" sz="2000" b="1" dirty="0">
                <a:solidFill>
                  <a:srgbClr val="1A2332"/>
                </a:solidFill>
              </a:rPr>
              <a:t>SQL y ETL</a:t>
            </a:r>
            <a:r>
              <a:rPr lang="es-ES" sz="1600" i="1" dirty="0">
                <a:solidFill>
                  <a:srgbClr val="3C5A7C"/>
                </a:solidFill>
              </a:rPr>
              <a:t>    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b="1" dirty="0">
                <a:solidFill>
                  <a:srgbClr val="8B2A2A"/>
                </a:solidFill>
                <a:latin typeface="Georgia"/>
              </a:rPr>
              <a:t>03  </a:t>
            </a:r>
            <a:r>
              <a:rPr lang="es-ES" sz="2000" b="1" dirty="0">
                <a:solidFill>
                  <a:srgbClr val="1A2332"/>
                </a:solidFill>
              </a:rPr>
              <a:t>MongoDB</a:t>
            </a:r>
            <a:r>
              <a:rPr lang="es-ES" sz="1600" i="1" dirty="0">
                <a:solidFill>
                  <a:srgbClr val="3C5A7C"/>
                </a:solidFill>
              </a:rPr>
              <a:t>   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b="1" dirty="0">
                <a:solidFill>
                  <a:srgbClr val="8B2A2A"/>
                </a:solidFill>
                <a:latin typeface="Georgia"/>
              </a:rPr>
              <a:t>04  </a:t>
            </a:r>
            <a:r>
              <a:rPr lang="es-ES" sz="2000" b="1" dirty="0">
                <a:solidFill>
                  <a:srgbClr val="1A2332"/>
                </a:solidFill>
              </a:rPr>
              <a:t>Modelo predictivo</a:t>
            </a:r>
            <a:r>
              <a:rPr lang="es-ES" sz="1600" i="1" dirty="0">
                <a:solidFill>
                  <a:srgbClr val="3C5A7C"/>
                </a:solidFill>
              </a:rPr>
              <a:t>   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2400" b="1" dirty="0">
                <a:solidFill>
                  <a:srgbClr val="8B2A2A"/>
                </a:solidFill>
                <a:latin typeface="Georgia"/>
              </a:rPr>
              <a:t>05  </a:t>
            </a:r>
            <a:r>
              <a:rPr lang="es-ES" sz="2000" b="1" dirty="0">
                <a:solidFill>
                  <a:srgbClr val="1A2332"/>
                </a:solidFill>
              </a:rPr>
              <a:t>Discusión y </a:t>
            </a:r>
            <a:r>
              <a:rPr lang="es-ES" sz="2000" b="1">
                <a:solidFill>
                  <a:srgbClr val="1A2332"/>
                </a:solidFill>
              </a:rPr>
              <a:t>mejoras</a:t>
            </a:r>
            <a:r>
              <a:rPr lang="es-ES" sz="1600" i="1">
                <a:solidFill>
                  <a:srgbClr val="3C5A7C"/>
                </a:solidFill>
              </a:rPr>
              <a:t>    </a:t>
            </a:r>
            <a:endParaRPr lang="es-ES" sz="1600" i="1" dirty="0">
              <a:solidFill>
                <a:srgbClr val="3C5A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77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315C-EDCB-21C0-23C8-837E2B9B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01 · CONTEXTO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¿Llegará este pedido tarde?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D4E4A-F3A4-8895-231C-19F94BAF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05000"/>
            <a:ext cx="5842000" cy="4318000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sz="1400" b="1">
                <a:solidFill>
                  <a:srgbClr val="8B2A2A"/>
                </a:solidFill>
              </a:rPr>
              <a:t>EL DATASET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500">
                <a:solidFill>
                  <a:srgbClr val="1A2332"/>
                </a:solidFill>
              </a:rPr>
              <a:t>Olist Brazilian E-Commerce (Kaggle): pedidos reales de la mayor plataforma de e-commerce de Brasil.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400" b="1">
                <a:solidFill>
                  <a:srgbClr val="8B2A2A"/>
                </a:solidFill>
              </a:rPr>
              <a:t>EL PROBLEMA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s-ES" sz="1500">
                <a:solidFill>
                  <a:srgbClr val="1A2332"/>
                </a:solidFill>
              </a:rPr>
              <a:t>Predecir retrasos en entrega impacta directamente la satisfacción del cliente y permite intervenciones logísticas tempranas.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400" b="1">
                <a:solidFill>
                  <a:srgbClr val="8B2A2A"/>
                </a:solidFill>
              </a:rPr>
              <a:t>POR QUÉ EL FLUJO HÍBRIDO</a:t>
            </a:r>
          </a:p>
          <a:p>
            <a:pPr marL="0" indent="0">
              <a:buNone/>
            </a:pPr>
            <a:r>
              <a:rPr lang="es-ES" sz="1500">
                <a:solidFill>
                  <a:srgbClr val="1A2332"/>
                </a:solidFill>
              </a:rPr>
              <a:t>Datos fuente tabulares (SQL) → pedido como documento (Mongo) → modelo.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74DD8-A6B1-46E1-A731-3A2320ACE4E5}"/>
              </a:ext>
            </a:extLst>
          </p:cNvPr>
          <p:cNvSpPr/>
          <p:nvPr/>
        </p:nvSpPr>
        <p:spPr>
          <a:xfrm>
            <a:off x="7112000" y="1905000"/>
            <a:ext cx="4572000" cy="120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7130E-B101-4944-A19F-CA4ABED930BA}"/>
              </a:ext>
            </a:extLst>
          </p:cNvPr>
          <p:cNvSpPr txBox="1"/>
          <p:nvPr/>
        </p:nvSpPr>
        <p:spPr>
          <a:xfrm>
            <a:off x="7315200" y="2032000"/>
            <a:ext cx="416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2C4A6B"/>
                </a:solidFill>
                <a:latin typeface="Georgia"/>
              </a:rPr>
              <a:t>~100K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16F68-FAD7-4DC1-97BB-9E42033E5D09}"/>
              </a:ext>
            </a:extLst>
          </p:cNvPr>
          <p:cNvSpPr txBox="1"/>
          <p:nvPr/>
        </p:nvSpPr>
        <p:spPr>
          <a:xfrm>
            <a:off x="7315200" y="26035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A2332"/>
                </a:solidFill>
              </a:rPr>
              <a:t>pedidos reales (Olist)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1A1E81-4D4A-4662-A0EA-BEB71D41DCB2}"/>
              </a:ext>
            </a:extLst>
          </p:cNvPr>
          <p:cNvSpPr/>
          <p:nvPr/>
        </p:nvSpPr>
        <p:spPr>
          <a:xfrm>
            <a:off x="7112000" y="3263900"/>
            <a:ext cx="4572000" cy="120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A7EC94-90E1-4280-B2DC-679C86FDF886}"/>
              </a:ext>
            </a:extLst>
          </p:cNvPr>
          <p:cNvSpPr txBox="1"/>
          <p:nvPr/>
        </p:nvSpPr>
        <p:spPr>
          <a:xfrm>
            <a:off x="7315200" y="3390900"/>
            <a:ext cx="416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8B2A2A"/>
                </a:solidFill>
                <a:latin typeface="Georgia"/>
              </a:rPr>
              <a:t>8.1%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8BEF4-D2AE-44BB-BC08-7D5A53E0E74B}"/>
              </a:ext>
            </a:extLst>
          </p:cNvPr>
          <p:cNvSpPr txBox="1"/>
          <p:nvPr/>
        </p:nvSpPr>
        <p:spPr>
          <a:xfrm>
            <a:off x="7315200" y="3962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>
                <a:solidFill>
                  <a:srgbClr val="1A2332"/>
                </a:solidFill>
              </a:rPr>
              <a:t>tasa de retraso en entregas</a:t>
            </a:r>
            <a:endParaRPr lang="en-US" sz="1400">
              <a:solidFill>
                <a:srgbClr val="1A233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0A1D1A-D572-42F3-8B4B-0B8296B480D6}"/>
              </a:ext>
            </a:extLst>
          </p:cNvPr>
          <p:cNvSpPr/>
          <p:nvPr/>
        </p:nvSpPr>
        <p:spPr>
          <a:xfrm>
            <a:off x="7112000" y="4622800"/>
            <a:ext cx="4572000" cy="120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1D397-6E58-4484-B8EE-40FF48E390B7}"/>
              </a:ext>
            </a:extLst>
          </p:cNvPr>
          <p:cNvSpPr txBox="1"/>
          <p:nvPr/>
        </p:nvSpPr>
        <p:spPr>
          <a:xfrm>
            <a:off x="7315200" y="4749800"/>
            <a:ext cx="416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4A7355"/>
                </a:solidFill>
                <a:latin typeface="Georgia"/>
              </a:rPr>
              <a:t>2016–18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5BB21-4EEB-4D55-BFE2-51488B306CEE}"/>
              </a:ext>
            </a:extLst>
          </p:cNvPr>
          <p:cNvSpPr txBox="1"/>
          <p:nvPr/>
        </p:nvSpPr>
        <p:spPr>
          <a:xfrm>
            <a:off x="7315200" y="53213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A2332"/>
                </a:solidFill>
              </a:rPr>
              <a:t>ventana temporal del dataset</a:t>
            </a:r>
          </a:p>
        </p:txBody>
      </p:sp>
    </p:spTree>
    <p:extLst>
      <p:ext uri="{BB962C8B-B14F-4D97-AF65-F5344CB8AC3E}">
        <p14:creationId xmlns:p14="http://schemas.microsoft.com/office/powerpoint/2010/main" val="91460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2A5D-9081-7449-1FD6-72B8C37A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ARQUITECTURA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El pipeline de extremo a extremo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EAC6E-9ADD-44C8-ACC9-0F0CC757F2FB}"/>
              </a:ext>
            </a:extLst>
          </p:cNvPr>
          <p:cNvSpPr/>
          <p:nvPr/>
        </p:nvSpPr>
        <p:spPr>
          <a:xfrm>
            <a:off x="952500" y="2540000"/>
            <a:ext cx="2286000" cy="203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C4A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867439-920B-416D-A9FD-5AC4B33B3973}"/>
              </a:ext>
            </a:extLst>
          </p:cNvPr>
          <p:cNvSpPr/>
          <p:nvPr/>
        </p:nvSpPr>
        <p:spPr>
          <a:xfrm>
            <a:off x="952500" y="2540000"/>
            <a:ext cx="2286000" cy="101600"/>
          </a:xfrm>
          <a:prstGeom prst="rect">
            <a:avLst/>
          </a:prstGeom>
          <a:solidFill>
            <a:srgbClr val="2C4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89147D-B1AF-45C6-AEC2-1305C356A748}"/>
              </a:ext>
            </a:extLst>
          </p:cNvPr>
          <p:cNvSpPr/>
          <p:nvPr/>
        </p:nvSpPr>
        <p:spPr>
          <a:xfrm>
            <a:off x="1778000" y="2844800"/>
            <a:ext cx="635000" cy="635000"/>
          </a:xfrm>
          <a:prstGeom prst="ellipse">
            <a:avLst/>
          </a:prstGeom>
          <a:solidFill>
            <a:srgbClr val="2C4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C5A70-94C7-41DB-A0E0-02D0BC3AF47C}"/>
              </a:ext>
            </a:extLst>
          </p:cNvPr>
          <p:cNvSpPr txBox="1"/>
          <p:nvPr/>
        </p:nvSpPr>
        <p:spPr>
          <a:xfrm>
            <a:off x="1054100" y="36068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A2332"/>
                </a:solidFill>
              </a:rPr>
              <a:t>PostgreSQL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EBF9D-8F15-4A6B-9A50-B888256F1DE7}"/>
              </a:ext>
            </a:extLst>
          </p:cNvPr>
          <p:cNvSpPr txBox="1"/>
          <p:nvPr/>
        </p:nvSpPr>
        <p:spPr>
          <a:xfrm>
            <a:off x="1054100" y="3962400"/>
            <a:ext cx="208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3C5A7C"/>
                </a:solidFill>
              </a:rPr>
              <a:t>6 tablas, ~100K filas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D9C1C3B-DA95-4397-B7CD-CE311A3831A2}"/>
              </a:ext>
            </a:extLst>
          </p:cNvPr>
          <p:cNvSpPr/>
          <p:nvPr/>
        </p:nvSpPr>
        <p:spPr>
          <a:xfrm>
            <a:off x="3289300" y="3403600"/>
            <a:ext cx="279400" cy="304800"/>
          </a:xfrm>
          <a:prstGeom prst="rightArrow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8D179C-C3AF-4194-843B-0AD1122FAE04}"/>
              </a:ext>
            </a:extLst>
          </p:cNvPr>
          <p:cNvSpPr/>
          <p:nvPr/>
        </p:nvSpPr>
        <p:spPr>
          <a:xfrm>
            <a:off x="3619500" y="2540000"/>
            <a:ext cx="2286000" cy="203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B892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DDBF63-2C7D-4338-B309-058B56C01F64}"/>
              </a:ext>
            </a:extLst>
          </p:cNvPr>
          <p:cNvSpPr/>
          <p:nvPr/>
        </p:nvSpPr>
        <p:spPr>
          <a:xfrm>
            <a:off x="3619500" y="2540000"/>
            <a:ext cx="2286000" cy="101600"/>
          </a:xfrm>
          <a:prstGeom prst="rect">
            <a:avLst/>
          </a:prstGeom>
          <a:solidFill>
            <a:srgbClr val="B89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5293B2-4402-4F26-A860-97D8C29A5ED3}"/>
              </a:ext>
            </a:extLst>
          </p:cNvPr>
          <p:cNvSpPr/>
          <p:nvPr/>
        </p:nvSpPr>
        <p:spPr>
          <a:xfrm>
            <a:off x="4445000" y="2844800"/>
            <a:ext cx="635000" cy="635000"/>
          </a:xfrm>
          <a:prstGeom prst="ellipse">
            <a:avLst/>
          </a:prstGeom>
          <a:solidFill>
            <a:srgbClr val="B89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A8EAC4-3058-423D-BD7D-18D876399FA2}"/>
              </a:ext>
            </a:extLst>
          </p:cNvPr>
          <p:cNvSpPr txBox="1"/>
          <p:nvPr/>
        </p:nvSpPr>
        <p:spPr>
          <a:xfrm>
            <a:off x="3721100" y="36068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A2332"/>
                </a:solidFill>
              </a:rPr>
              <a:t>ETL 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B2CC5-B3F1-4138-9810-72851161848A}"/>
              </a:ext>
            </a:extLst>
          </p:cNvPr>
          <p:cNvSpPr txBox="1"/>
          <p:nvPr/>
        </p:nvSpPr>
        <p:spPr>
          <a:xfrm>
            <a:off x="3721100" y="3962400"/>
            <a:ext cx="208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3C5A7C"/>
                </a:solidFill>
              </a:rPr>
              <a:t>limpieza + enriquecimiento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59DFD2D-B04F-4109-9C9E-0D744318782D}"/>
              </a:ext>
            </a:extLst>
          </p:cNvPr>
          <p:cNvSpPr/>
          <p:nvPr/>
        </p:nvSpPr>
        <p:spPr>
          <a:xfrm>
            <a:off x="5956300" y="3403600"/>
            <a:ext cx="279400" cy="304800"/>
          </a:xfrm>
          <a:prstGeom prst="rightArrow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D47AE4-4239-4B13-BDBE-7DBE5D8E337C}"/>
              </a:ext>
            </a:extLst>
          </p:cNvPr>
          <p:cNvSpPr/>
          <p:nvPr/>
        </p:nvSpPr>
        <p:spPr>
          <a:xfrm>
            <a:off x="6286500" y="2540000"/>
            <a:ext cx="2286000" cy="203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4A73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0265DE-A1DB-4792-9852-F10E1840CCF3}"/>
              </a:ext>
            </a:extLst>
          </p:cNvPr>
          <p:cNvSpPr/>
          <p:nvPr/>
        </p:nvSpPr>
        <p:spPr>
          <a:xfrm>
            <a:off x="6286500" y="2540000"/>
            <a:ext cx="2286000" cy="101600"/>
          </a:xfrm>
          <a:prstGeom prst="rect">
            <a:avLst/>
          </a:prstGeom>
          <a:solidFill>
            <a:srgbClr val="4A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85720E-6494-48C6-9FFF-8CED0C3525A2}"/>
              </a:ext>
            </a:extLst>
          </p:cNvPr>
          <p:cNvSpPr/>
          <p:nvPr/>
        </p:nvSpPr>
        <p:spPr>
          <a:xfrm>
            <a:off x="7112000" y="2844800"/>
            <a:ext cx="635000" cy="635000"/>
          </a:xfrm>
          <a:prstGeom prst="ellipse">
            <a:avLst/>
          </a:prstGeom>
          <a:solidFill>
            <a:srgbClr val="4A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{ 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CCBE4C-AFCE-437B-9155-047BE9D069A7}"/>
              </a:ext>
            </a:extLst>
          </p:cNvPr>
          <p:cNvSpPr txBox="1"/>
          <p:nvPr/>
        </p:nvSpPr>
        <p:spPr>
          <a:xfrm>
            <a:off x="6388100" y="36068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A2332"/>
                </a:solidFill>
              </a:rPr>
              <a:t>MongoDB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6A576-B772-4E8E-8D3D-26DF7C6C6DDE}"/>
              </a:ext>
            </a:extLst>
          </p:cNvPr>
          <p:cNvSpPr txBox="1"/>
          <p:nvPr/>
        </p:nvSpPr>
        <p:spPr>
          <a:xfrm>
            <a:off x="6388100" y="3962400"/>
            <a:ext cx="208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3C5A7C"/>
                </a:solidFill>
              </a:rPr>
              <a:t>96 470 documentos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982EFAC-8FF1-45B9-94C8-26933244CB71}"/>
              </a:ext>
            </a:extLst>
          </p:cNvPr>
          <p:cNvSpPr/>
          <p:nvPr/>
        </p:nvSpPr>
        <p:spPr>
          <a:xfrm>
            <a:off x="8623300" y="3403600"/>
            <a:ext cx="279400" cy="304800"/>
          </a:xfrm>
          <a:prstGeom prst="rightArrow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BE06EF-9445-4951-BC4E-532E9698E287}"/>
              </a:ext>
            </a:extLst>
          </p:cNvPr>
          <p:cNvSpPr/>
          <p:nvPr/>
        </p:nvSpPr>
        <p:spPr>
          <a:xfrm>
            <a:off x="8953500" y="2540000"/>
            <a:ext cx="2286000" cy="203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8B2A2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E03E81-DC8B-449A-95C5-3661882CAB83}"/>
              </a:ext>
            </a:extLst>
          </p:cNvPr>
          <p:cNvSpPr/>
          <p:nvPr/>
        </p:nvSpPr>
        <p:spPr>
          <a:xfrm>
            <a:off x="8953500" y="2540000"/>
            <a:ext cx="2286000" cy="101600"/>
          </a:xfrm>
          <a:prstGeom prst="rect">
            <a:avLst/>
          </a:prstGeom>
          <a:solidFill>
            <a:srgbClr val="8B2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F59B43-C477-4343-ABD4-99257EF2BCCD}"/>
              </a:ext>
            </a:extLst>
          </p:cNvPr>
          <p:cNvSpPr/>
          <p:nvPr/>
        </p:nvSpPr>
        <p:spPr>
          <a:xfrm>
            <a:off x="9779000" y="2844800"/>
            <a:ext cx="635000" cy="635000"/>
          </a:xfrm>
          <a:prstGeom prst="ellipse">
            <a:avLst/>
          </a:prstGeom>
          <a:solidFill>
            <a:srgbClr val="8B2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929B19-5ED9-4DDB-9CF1-FC7D6558E982}"/>
              </a:ext>
            </a:extLst>
          </p:cNvPr>
          <p:cNvSpPr txBox="1"/>
          <p:nvPr/>
        </p:nvSpPr>
        <p:spPr>
          <a:xfrm>
            <a:off x="9055100" y="36068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A2332"/>
                </a:solidFill>
              </a:rPr>
              <a:t>Random Forest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91C798-7855-4479-82A3-5D5ECD21BC9F}"/>
              </a:ext>
            </a:extLst>
          </p:cNvPr>
          <p:cNvSpPr txBox="1"/>
          <p:nvPr/>
        </p:nvSpPr>
        <p:spPr>
          <a:xfrm>
            <a:off x="9055100" y="3962400"/>
            <a:ext cx="208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3C5A7C"/>
                </a:solidFill>
              </a:rPr>
              <a:t>AUC 0.83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E69C6-6B55-4F75-A881-E33DFE22A33D}"/>
              </a:ext>
            </a:extLst>
          </p:cNvPr>
          <p:cNvSpPr txBox="1"/>
          <p:nvPr/>
        </p:nvSpPr>
        <p:spPr>
          <a:xfrm>
            <a:off x="1016000" y="5080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400" i="1">
                <a:solidFill>
                  <a:srgbClr val="3C5A7C"/>
                </a:solidFill>
              </a:rPr>
              <a:t>Flujo batch: cada etapa entrega datos validados a la siguiente — separación clara de responsabilidades.</a:t>
            </a:r>
            <a:endParaRPr lang="en-US" sz="1400" i="1">
              <a:solidFill>
                <a:srgbClr val="3C5A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85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5283-EA7B-00BF-D56D-BA8D99E8A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02 · SQL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Modelo relacional · 6 tablas en PostgreSQL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62CBDC-CE67-4F7A-90B4-ACD5C1B57392}"/>
              </a:ext>
            </a:extLst>
          </p:cNvPr>
          <p:cNvGraphicFramePr>
            <a:graphicFrameLocks noGrp="1"/>
          </p:cNvGraphicFramePr>
          <p:nvPr/>
        </p:nvGraphicFramePr>
        <p:xfrm>
          <a:off x="635000" y="2032000"/>
          <a:ext cx="6603999" cy="3174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333">
                  <a:extLst>
                    <a:ext uri="{9D8B030D-6E8A-4147-A177-3AD203B41FA5}">
                      <a16:colId xmlns:a16="http://schemas.microsoft.com/office/drawing/2014/main" val="2534413212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1231365504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4055852803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Tabla</a:t>
                      </a:r>
                    </a:p>
                  </a:txBody>
                  <a:tcPr anchor="ctr">
                    <a:solidFill>
                      <a:srgbClr val="2C4A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Filas</a:t>
                      </a:r>
                    </a:p>
                  </a:txBody>
                  <a:tcPr anchor="ctr">
                    <a:solidFill>
                      <a:srgbClr val="2C4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Clave</a:t>
                      </a:r>
                    </a:p>
                  </a:txBody>
                  <a:tcPr anchor="ctr">
                    <a:solidFill>
                      <a:srgbClr val="2C4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1284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  <a:latin typeface="Consolas"/>
                        </a:rPr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99 441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customer_id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923569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  <a:latin typeface="Consolas"/>
                        </a:rPr>
                        <a:t>sellers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3 095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seller_id (PK)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455536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  <a:latin typeface="Consolas"/>
                        </a:rPr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32 951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product_id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57300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99 441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order_id (PK)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052182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  <a:latin typeface="Consolas"/>
                        </a:rPr>
                        <a:t>order_items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112 650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(order_id, item_seq)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17604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  <a:latin typeface="Consolas"/>
                        </a:rPr>
                        <a:t>order_reviews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99 224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1A2332"/>
                          </a:solidFill>
                        </a:rPr>
                        <a:t>review_id (PK)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14760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5E26EF1-208B-44BD-9184-8DAA66A6A176}"/>
              </a:ext>
            </a:extLst>
          </p:cNvPr>
          <p:cNvSpPr/>
          <p:nvPr/>
        </p:nvSpPr>
        <p:spPr>
          <a:xfrm>
            <a:off x="7620000" y="2032000"/>
            <a:ext cx="4064000" cy="4064000"/>
          </a:xfrm>
          <a:prstGeom prst="rect">
            <a:avLst/>
          </a:prstGeom>
          <a:solidFill>
            <a:srgbClr val="F5F0E8"/>
          </a:solidFill>
          <a:ln w="12700" cap="flat" cmpd="sng" algn="ctr">
            <a:solidFill>
              <a:srgbClr val="B892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8D881-AD5F-4741-B990-414B52B88219}"/>
              </a:ext>
            </a:extLst>
          </p:cNvPr>
          <p:cNvSpPr txBox="1"/>
          <p:nvPr/>
        </p:nvSpPr>
        <p:spPr>
          <a:xfrm>
            <a:off x="7823200" y="2209800"/>
            <a:ext cx="368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8B2A2A"/>
                </a:solidFill>
              </a:rPr>
              <a:t>DECISIONES DE DISEÑO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A3052-692A-4127-A7BA-E900D5023B65}"/>
              </a:ext>
            </a:extLst>
          </p:cNvPr>
          <p:cNvSpPr txBox="1"/>
          <p:nvPr/>
        </p:nvSpPr>
        <p:spPr>
          <a:xfrm>
            <a:off x="7823200" y="2540000"/>
            <a:ext cx="3683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400" b="1">
                <a:solidFill>
                  <a:srgbClr val="1A2332"/>
                </a:solidFill>
              </a:rPr>
              <a:t>customer_id ≠ customer_unique_id</a:t>
            </a:r>
          </a:p>
          <a:p>
            <a:pPr marL="171450" indent="0">
              <a:spcAft>
                <a:spcPts val="8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ID distinto por pedido para privacidad; el unique_id identifica al comprador real.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400" b="1">
                <a:solidFill>
                  <a:srgbClr val="1A2332"/>
                </a:solidFill>
              </a:rPr>
              <a:t>PK compuesta en order_items</a:t>
            </a:r>
          </a:p>
          <a:p>
            <a:pPr marL="171450" indent="0">
              <a:spcAft>
                <a:spcPts val="8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Un pedido puede tener N productos de distintos vendedores.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400" b="1">
                <a:solidFill>
                  <a:srgbClr val="1A2332"/>
                </a:solidFill>
              </a:rPr>
              <a:t>order_reviews es 1:1 con orders</a:t>
            </a:r>
          </a:p>
          <a:p>
            <a:pPr marL="171450" indent="0">
              <a:buNone/>
            </a:pPr>
            <a:r>
              <a:rPr lang="es-ES" sz="1300">
                <a:solidFill>
                  <a:srgbClr val="3C5A7C"/>
                </a:solidFill>
              </a:rPr>
              <a:t>Una reseña por pedido (muchos sin reseña → tabla separada).</a:t>
            </a:r>
          </a:p>
        </p:txBody>
      </p:sp>
    </p:spTree>
    <p:extLst>
      <p:ext uri="{BB962C8B-B14F-4D97-AF65-F5344CB8AC3E}">
        <p14:creationId xmlns:p14="http://schemas.microsoft.com/office/powerpoint/2010/main" val="355999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649A-6E38-98B5-901B-CB92139F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1200" b="1" dirty="0">
                <a:solidFill>
                  <a:srgbClr val="8B2A2A"/>
                </a:solidFill>
              </a:rPr>
              <a:t>02 · SQL</a:t>
            </a:r>
          </a:p>
          <a:p>
            <a:pPr algn="l">
              <a:buNone/>
            </a:pPr>
            <a:r>
              <a:rPr lang="es-ES" sz="3200" b="1" dirty="0">
                <a:solidFill>
                  <a:srgbClr val="1A2332"/>
                </a:solidFill>
              </a:rPr>
              <a:t>MER y modelo relacional</a:t>
            </a:r>
          </a:p>
        </p:txBody>
      </p:sp>
      <p:sp>
        <p:nvSpPr>
          <p:cNvPr id="600" name="ent_h"/>
          <p:cNvSpPr/>
          <p:nvPr/>
        </p:nvSpPr>
        <p:spPr>
          <a:xfrm>
            <a:off x="4191000" y="2032000"/>
            <a:ext cx="2794000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601" name="ent_b"/>
          <p:cNvSpPr/>
          <p:nvPr/>
        </p:nvSpPr>
        <p:spPr>
          <a:xfrm>
            <a:off x="4191000" y="2260600"/>
            <a:ext cx="2794000" cy="1612900"/>
          </a:xfrm>
          <a:prstGeom prst="rect">
            <a:avLst/>
          </a:prstGeom>
          <a:solidFill>
            <a:srgbClr val="FFFFFF"/>
          </a:solidFill>
          <a:ln w="9525">
            <a:solidFill>
              <a:srgbClr val="3C5A7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8B2A2A"/>
                </a:solidFill>
              </a:rPr>
              <a:t>PK </a:t>
            </a:r>
            <a:r>
              <a:rPr lang="es-ES" sz="1100" dirty="0">
                <a:solidFill>
                  <a:srgbClr val="1A2332"/>
                </a:solidFill>
              </a:rPr>
              <a:t>order_id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4A7355"/>
                </a:solidFill>
              </a:rPr>
              <a:t>FK </a:t>
            </a:r>
            <a:r>
              <a:rPr lang="es-ES" sz="1100" dirty="0">
                <a:solidFill>
                  <a:srgbClr val="1A2332"/>
                </a:solidFill>
              </a:rPr>
              <a:t>customer_id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order_status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purchase_timestamp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delivery_timestamp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estimated_delivery</a:t>
            </a:r>
          </a:p>
        </p:txBody>
      </p:sp>
      <p:sp>
        <p:nvSpPr>
          <p:cNvPr id="602" name="ent_h"/>
          <p:cNvSpPr/>
          <p:nvPr/>
        </p:nvSpPr>
        <p:spPr>
          <a:xfrm>
            <a:off x="444500" y="2032000"/>
            <a:ext cx="2286000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603" name="ent_b"/>
          <p:cNvSpPr/>
          <p:nvPr/>
        </p:nvSpPr>
        <p:spPr>
          <a:xfrm>
            <a:off x="444500" y="2260600"/>
            <a:ext cx="22860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3C5A7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8B2A2A"/>
                </a:solidFill>
              </a:rPr>
              <a:t>PK </a:t>
            </a:r>
            <a:r>
              <a:rPr lang="es-ES" sz="1100" dirty="0">
                <a:solidFill>
                  <a:srgbClr val="1A2332"/>
                </a:solidFill>
              </a:rPr>
              <a:t>customer_id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customer_unique_id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zip_code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city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state</a:t>
            </a:r>
          </a:p>
        </p:txBody>
      </p:sp>
      <p:sp>
        <p:nvSpPr>
          <p:cNvPr id="604" name="ent_h"/>
          <p:cNvSpPr/>
          <p:nvPr/>
        </p:nvSpPr>
        <p:spPr>
          <a:xfrm>
            <a:off x="8509000" y="2032000"/>
            <a:ext cx="2921000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order_reviews</a:t>
            </a:r>
          </a:p>
        </p:txBody>
      </p:sp>
      <p:sp>
        <p:nvSpPr>
          <p:cNvPr id="605" name="ent_b"/>
          <p:cNvSpPr/>
          <p:nvPr/>
        </p:nvSpPr>
        <p:spPr>
          <a:xfrm>
            <a:off x="8509000" y="2260600"/>
            <a:ext cx="2921000" cy="1231900"/>
          </a:xfrm>
          <a:prstGeom prst="rect">
            <a:avLst/>
          </a:prstGeom>
          <a:solidFill>
            <a:srgbClr val="FFFFFF"/>
          </a:solidFill>
          <a:ln w="9525">
            <a:solidFill>
              <a:srgbClr val="3C5A7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8B2A2A"/>
                </a:solidFill>
              </a:rPr>
              <a:t>PK </a:t>
            </a:r>
            <a:r>
              <a:rPr lang="es-ES" sz="1100" dirty="0">
                <a:solidFill>
                  <a:srgbClr val="1A2332"/>
                </a:solidFill>
              </a:rPr>
              <a:t>review_id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4A7355"/>
                </a:solidFill>
              </a:rPr>
              <a:t>FK </a:t>
            </a:r>
            <a:r>
              <a:rPr lang="es-ES" sz="1100" dirty="0">
                <a:solidFill>
                  <a:srgbClr val="1A2332"/>
                </a:solidFill>
              </a:rPr>
              <a:t>order_id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review_score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comment_message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creation_date</a:t>
            </a:r>
          </a:p>
        </p:txBody>
      </p:sp>
      <p:sp>
        <p:nvSpPr>
          <p:cNvPr id="606" name="ent_h"/>
          <p:cNvSpPr/>
          <p:nvPr/>
        </p:nvSpPr>
        <p:spPr>
          <a:xfrm>
            <a:off x="4191000" y="4318000"/>
            <a:ext cx="2794000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order_items</a:t>
            </a:r>
          </a:p>
        </p:txBody>
      </p:sp>
      <p:sp>
        <p:nvSpPr>
          <p:cNvPr id="607" name="ent_b"/>
          <p:cNvSpPr/>
          <p:nvPr/>
        </p:nvSpPr>
        <p:spPr>
          <a:xfrm>
            <a:off x="4191000" y="4546600"/>
            <a:ext cx="27940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3C5A7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8B2A2A"/>
                </a:solidFill>
              </a:rPr>
              <a:t>PK </a:t>
            </a:r>
            <a:r>
              <a:rPr lang="es-ES" sz="1100" dirty="0">
                <a:solidFill>
                  <a:srgbClr val="1A2332"/>
                </a:solidFill>
              </a:rPr>
              <a:t>(order_id, item_seq)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4A7355"/>
                </a:solidFill>
              </a:rPr>
              <a:t>FK </a:t>
            </a:r>
            <a:r>
              <a:rPr lang="es-ES" sz="1100" dirty="0">
                <a:solidFill>
                  <a:srgbClr val="1A2332"/>
                </a:solidFill>
              </a:rPr>
              <a:t>product_id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4A7355"/>
                </a:solidFill>
              </a:rPr>
              <a:t>FK </a:t>
            </a:r>
            <a:r>
              <a:rPr lang="es-ES" sz="1100" dirty="0">
                <a:solidFill>
                  <a:srgbClr val="1A2332"/>
                </a:solidFill>
              </a:rPr>
              <a:t>seller_id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price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freight_value</a:t>
            </a:r>
          </a:p>
        </p:txBody>
      </p:sp>
      <p:sp>
        <p:nvSpPr>
          <p:cNvPr id="608" name="ent_h"/>
          <p:cNvSpPr/>
          <p:nvPr/>
        </p:nvSpPr>
        <p:spPr>
          <a:xfrm>
            <a:off x="444500" y="4826000"/>
            <a:ext cx="2540000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609" name="ent_b"/>
          <p:cNvSpPr/>
          <p:nvPr/>
        </p:nvSpPr>
        <p:spPr>
          <a:xfrm>
            <a:off x="444500" y="5054600"/>
            <a:ext cx="25400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3C5A7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8B2A2A"/>
                </a:solidFill>
              </a:rPr>
              <a:t>PK </a:t>
            </a:r>
            <a:r>
              <a:rPr lang="es-ES" sz="1100" dirty="0">
                <a:solidFill>
                  <a:srgbClr val="1A2332"/>
                </a:solidFill>
              </a:rPr>
              <a:t>product_id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category_name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weight_g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length_cm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photos_qty</a:t>
            </a:r>
          </a:p>
        </p:txBody>
      </p:sp>
      <p:sp>
        <p:nvSpPr>
          <p:cNvPr id="610" name="ent_h"/>
          <p:cNvSpPr/>
          <p:nvPr/>
        </p:nvSpPr>
        <p:spPr>
          <a:xfrm>
            <a:off x="8509000" y="4826000"/>
            <a:ext cx="2540000" cy="2286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lIns="45720" tIns="22860" rIns="45720" bIns="2286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sellers</a:t>
            </a:r>
          </a:p>
        </p:txBody>
      </p:sp>
      <p:sp>
        <p:nvSpPr>
          <p:cNvPr id="611" name="ent_b"/>
          <p:cNvSpPr/>
          <p:nvPr/>
        </p:nvSpPr>
        <p:spPr>
          <a:xfrm>
            <a:off x="8509000" y="5054600"/>
            <a:ext cx="2540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3C5A7C"/>
            </a:solidFill>
          </a:ln>
        </p:spPr>
        <p:txBody>
          <a:bodyPr wrap="square" lIns="91440" tIns="45720" rIns="45720" bIns="45720" anchor="t"/>
          <a:lstStyle/>
          <a:p>
            <a:pPr marL="0" indent="0">
              <a:spcBef>
                <a:spcPts val="0"/>
              </a:spcBef>
              <a:buNone/>
            </a:pPr>
            <a:r>
              <a:rPr lang="es-ES" sz="1100" b="1" dirty="0">
                <a:solidFill>
                  <a:srgbClr val="8B2A2A"/>
                </a:solidFill>
              </a:rPr>
              <a:t>PK </a:t>
            </a:r>
            <a:r>
              <a:rPr lang="es-ES" sz="1100" dirty="0">
                <a:solidFill>
                  <a:srgbClr val="1A2332"/>
                </a:solidFill>
              </a:rPr>
              <a:t>seller_id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zip_code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city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1100" dirty="0">
                <a:solidFill>
                  <a:srgbClr val="1A2332"/>
                </a:solidFill>
              </a:rPr>
              <a:t>state</a:t>
            </a:r>
          </a:p>
        </p:txBody>
      </p:sp>
      <p:cxnSp>
        <p:nvCxnSpPr>
          <p:cNvPr id="612" name="ln"/>
          <p:cNvCxnSpPr/>
          <p:nvPr/>
        </p:nvCxnSpPr>
        <p:spPr>
          <a:xfrm>
            <a:off x="2730500" y="2730500"/>
            <a:ext cx="1460500" cy="12700"/>
          </a:xfrm>
          <a:prstGeom prst="line">
            <a:avLst/>
          </a:prstGeom>
          <a:ln w="19050">
            <a:solidFill>
              <a:srgbClr val="3C5A7C"/>
            </a:solidFill>
          </a:ln>
        </p:spPr>
      </p:cxnSp>
      <p:sp>
        <p:nvSpPr>
          <p:cNvPr id="613" name="card"/>
          <p:cNvSpPr txBox="1"/>
          <p:nvPr/>
        </p:nvSpPr>
        <p:spPr>
          <a:xfrm>
            <a:off x="2857500" y="25400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614" name="card"/>
          <p:cNvSpPr txBox="1"/>
          <p:nvPr/>
        </p:nvSpPr>
        <p:spPr>
          <a:xfrm>
            <a:off x="3746500" y="25400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N</a:t>
            </a:r>
          </a:p>
        </p:txBody>
      </p:sp>
      <p:cxnSp>
        <p:nvCxnSpPr>
          <p:cNvPr id="615" name="ln"/>
          <p:cNvCxnSpPr/>
          <p:nvPr/>
        </p:nvCxnSpPr>
        <p:spPr>
          <a:xfrm>
            <a:off x="6985000" y="2730500"/>
            <a:ext cx="1524000" cy="12700"/>
          </a:xfrm>
          <a:prstGeom prst="line">
            <a:avLst/>
          </a:prstGeom>
          <a:ln w="19050">
            <a:solidFill>
              <a:srgbClr val="3C5A7C"/>
            </a:solidFill>
          </a:ln>
        </p:spPr>
      </p:cxnSp>
      <p:sp>
        <p:nvSpPr>
          <p:cNvPr id="616" name="card"/>
          <p:cNvSpPr txBox="1"/>
          <p:nvPr/>
        </p:nvSpPr>
        <p:spPr>
          <a:xfrm>
            <a:off x="7112000" y="25400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617" name="card"/>
          <p:cNvSpPr txBox="1"/>
          <p:nvPr/>
        </p:nvSpPr>
        <p:spPr>
          <a:xfrm>
            <a:off x="8064500" y="25400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1</a:t>
            </a:r>
          </a:p>
        </p:txBody>
      </p:sp>
      <p:cxnSp>
        <p:nvCxnSpPr>
          <p:cNvPr id="618" name="ln"/>
          <p:cNvCxnSpPr/>
          <p:nvPr/>
        </p:nvCxnSpPr>
        <p:spPr>
          <a:xfrm>
            <a:off x="5588000" y="3873500"/>
            <a:ext cx="12700" cy="444500"/>
          </a:xfrm>
          <a:prstGeom prst="line">
            <a:avLst/>
          </a:prstGeom>
          <a:ln w="19050">
            <a:solidFill>
              <a:srgbClr val="3C5A7C"/>
            </a:solidFill>
          </a:ln>
        </p:spPr>
      </p:cxnSp>
      <p:sp>
        <p:nvSpPr>
          <p:cNvPr id="619" name="card"/>
          <p:cNvSpPr txBox="1"/>
          <p:nvPr/>
        </p:nvSpPr>
        <p:spPr>
          <a:xfrm>
            <a:off x="5905500" y="38735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620" name="card"/>
          <p:cNvSpPr txBox="1"/>
          <p:nvPr/>
        </p:nvSpPr>
        <p:spPr>
          <a:xfrm>
            <a:off x="5905500" y="41275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N</a:t>
            </a:r>
          </a:p>
        </p:txBody>
      </p:sp>
      <p:cxnSp>
        <p:nvCxnSpPr>
          <p:cNvPr id="621" name="ln"/>
          <p:cNvCxnSpPr/>
          <p:nvPr/>
        </p:nvCxnSpPr>
        <p:spPr>
          <a:xfrm flipH="1">
            <a:off x="2984500" y="4953000"/>
            <a:ext cx="1206500" cy="254000"/>
          </a:xfrm>
          <a:prstGeom prst="line">
            <a:avLst/>
          </a:prstGeom>
          <a:ln w="19050">
            <a:solidFill>
              <a:srgbClr val="3C5A7C"/>
            </a:solidFill>
          </a:ln>
        </p:spPr>
      </p:cxnSp>
      <p:sp>
        <p:nvSpPr>
          <p:cNvPr id="622" name="card"/>
          <p:cNvSpPr txBox="1"/>
          <p:nvPr/>
        </p:nvSpPr>
        <p:spPr>
          <a:xfrm>
            <a:off x="3111500" y="50165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623" name="card"/>
          <p:cNvSpPr txBox="1"/>
          <p:nvPr/>
        </p:nvSpPr>
        <p:spPr>
          <a:xfrm>
            <a:off x="3911600" y="48260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N</a:t>
            </a:r>
          </a:p>
        </p:txBody>
      </p:sp>
      <p:cxnSp>
        <p:nvCxnSpPr>
          <p:cNvPr id="624" name="ln"/>
          <p:cNvCxnSpPr/>
          <p:nvPr/>
        </p:nvCxnSpPr>
        <p:spPr>
          <a:xfrm>
            <a:off x="6985000" y="4953000"/>
            <a:ext cx="1524000" cy="254000"/>
          </a:xfrm>
          <a:prstGeom prst="line">
            <a:avLst/>
          </a:prstGeom>
          <a:ln w="19050">
            <a:solidFill>
              <a:srgbClr val="3C5A7C"/>
            </a:solidFill>
          </a:ln>
        </p:spPr>
      </p:cxnSp>
      <p:sp>
        <p:nvSpPr>
          <p:cNvPr id="625" name="card"/>
          <p:cNvSpPr txBox="1"/>
          <p:nvPr/>
        </p:nvSpPr>
        <p:spPr>
          <a:xfrm>
            <a:off x="7048500" y="48260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N</a:t>
            </a:r>
          </a:p>
        </p:txBody>
      </p:sp>
      <p:sp>
        <p:nvSpPr>
          <p:cNvPr id="626" name="card"/>
          <p:cNvSpPr txBox="1"/>
          <p:nvPr/>
        </p:nvSpPr>
        <p:spPr>
          <a:xfrm>
            <a:off x="8128000" y="5016500"/>
            <a:ext cx="381000" cy="25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s-ES" sz="1100" b="1" dirty="0">
                <a:solidFill>
                  <a:srgbClr val="1A2332"/>
                </a:solidFill>
              </a:rPr>
              <a:t>1</a:t>
            </a:r>
          </a:p>
        </p:txBody>
      </p:sp>
      <p:sp>
        <p:nvSpPr>
          <p:cNvPr id="627" name="legend"/>
          <p:cNvSpPr txBox="1"/>
          <p:nvPr/>
        </p:nvSpPr>
        <p:spPr>
          <a:xfrm>
            <a:off x="444500" y="6286500"/>
            <a:ext cx="11303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400" b="1" dirty="0">
                <a:solidFill>
                  <a:srgbClr val="8B2A2A"/>
                </a:solidFill>
              </a:rPr>
              <a:t>PK </a:t>
            </a:r>
            <a:r>
              <a:rPr lang="es-ES" sz="1400" dirty="0">
                <a:solidFill>
                  <a:srgbClr val="1A2332"/>
                </a:solidFill>
              </a:rPr>
              <a:t>Primary Key   </a:t>
            </a:r>
            <a:r>
              <a:rPr lang="es-ES" sz="1400" b="1" dirty="0">
                <a:solidFill>
                  <a:srgbClr val="4A7355"/>
                </a:solidFill>
              </a:rPr>
              <a:t>FK </a:t>
            </a:r>
            <a:r>
              <a:rPr lang="es-ES" sz="1400" dirty="0">
                <a:solidFill>
                  <a:srgbClr val="1A2332"/>
                </a:solidFill>
              </a:rPr>
              <a:t>Foreign Key   |   6 tablas normalizadas en PostgreSQL 15</a:t>
            </a:r>
          </a:p>
        </p:txBody>
      </p:sp>
    </p:spTree>
    <p:extLst>
      <p:ext uri="{BB962C8B-B14F-4D97-AF65-F5344CB8AC3E}">
        <p14:creationId xmlns:p14="http://schemas.microsoft.com/office/powerpoint/2010/main" val="101734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D3AE-4859-7CEF-EDF5-06BF87E9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02 · ETL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Tres secciones · del CSV al documento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9D6C9-2D7A-47EE-A1EF-958D80ECD9AD}"/>
              </a:ext>
            </a:extLst>
          </p:cNvPr>
          <p:cNvSpPr/>
          <p:nvPr/>
        </p:nvSpPr>
        <p:spPr>
          <a:xfrm>
            <a:off x="508000" y="2032000"/>
            <a:ext cx="3556000" cy="558800"/>
          </a:xfrm>
          <a:prstGeom prst="rect">
            <a:avLst/>
          </a:prstGeom>
          <a:solidFill>
            <a:srgbClr val="2C4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1. EXTRACCIÓN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E208DD-27FE-4748-960E-B83150785E74}"/>
              </a:ext>
            </a:extLst>
          </p:cNvPr>
          <p:cNvSpPr/>
          <p:nvPr/>
        </p:nvSpPr>
        <p:spPr>
          <a:xfrm>
            <a:off x="508000" y="2590800"/>
            <a:ext cx="3556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ED42E-A7B5-4782-AC96-F525DCCECA59}"/>
              </a:ext>
            </a:extLst>
          </p:cNvPr>
          <p:cNvSpPr/>
          <p:nvPr/>
        </p:nvSpPr>
        <p:spPr>
          <a:xfrm>
            <a:off x="4318000" y="2032000"/>
            <a:ext cx="3556000" cy="558800"/>
          </a:xfrm>
          <a:prstGeom prst="rect">
            <a:avLst/>
          </a:prstGeom>
          <a:solidFill>
            <a:srgbClr val="B89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2. TRANSFORMACIÓN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C0ACB-B00B-46FC-B39C-86E1BE4FEA4E}"/>
              </a:ext>
            </a:extLst>
          </p:cNvPr>
          <p:cNvSpPr/>
          <p:nvPr/>
        </p:nvSpPr>
        <p:spPr>
          <a:xfrm>
            <a:off x="4318000" y="2590800"/>
            <a:ext cx="3556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993088-AE07-4578-B227-DA4523B0A6B8}"/>
              </a:ext>
            </a:extLst>
          </p:cNvPr>
          <p:cNvSpPr/>
          <p:nvPr/>
        </p:nvSpPr>
        <p:spPr>
          <a:xfrm>
            <a:off x="8128000" y="2032000"/>
            <a:ext cx="3556000" cy="558800"/>
          </a:xfrm>
          <a:prstGeom prst="rect">
            <a:avLst/>
          </a:prstGeom>
          <a:solidFill>
            <a:srgbClr val="4A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3. CARGA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A0073-0039-46E4-AAE5-8E10C8570E25}"/>
              </a:ext>
            </a:extLst>
          </p:cNvPr>
          <p:cNvSpPr/>
          <p:nvPr/>
        </p:nvSpPr>
        <p:spPr>
          <a:xfrm>
            <a:off x="8128000" y="2590800"/>
            <a:ext cx="3556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CF8E2-A7D6-4219-9A10-B33FFB972965}"/>
              </a:ext>
            </a:extLst>
          </p:cNvPr>
          <p:cNvSpPr txBox="1"/>
          <p:nvPr/>
        </p:nvSpPr>
        <p:spPr>
          <a:xfrm>
            <a:off x="711200" y="2794000"/>
            <a:ext cx="31496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Conexión a PostgreSQL con SQLAlchemy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JOIN de las 6 tablas → DataFrame plano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Filtro: solo order_status = 'delivered'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Resultado: ~96 000 filas × 20 columnas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F7248-D3EA-41D1-B654-5D891654E4C7}"/>
              </a:ext>
            </a:extLst>
          </p:cNvPr>
          <p:cNvSpPr txBox="1"/>
          <p:nvPr/>
        </p:nvSpPr>
        <p:spPr>
          <a:xfrm>
            <a:off x="4521200" y="2794000"/>
            <a:ext cx="31496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Calcular dias_prometidos y dias_reales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Target tarde = dias_reales &gt; prometidos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Feature volumen_cm3 = largo × alto × ancho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Imputar review_score = 0 si nulo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Deduplicar por order_id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00E05-DD0F-4F8A-B057-940C03823852}"/>
              </a:ext>
            </a:extLst>
          </p:cNvPr>
          <p:cNvSpPr txBox="1"/>
          <p:nvPr/>
        </p:nvSpPr>
        <p:spPr>
          <a:xfrm>
            <a:off x="8331200" y="2794000"/>
            <a:ext cx="31496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Construir documento JSON anidado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Subcampos: cliente, vendedor, producto, pago, entrega, reseña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insert_many en lotes con tqdm</a:t>
            </a:r>
          </a:p>
          <a:p>
            <a:pPr marL="171450" indent="-171450">
              <a:spcAft>
                <a:spcPts val="5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Verificación final de conteos</a:t>
            </a:r>
          </a:p>
        </p:txBody>
      </p:sp>
    </p:spTree>
    <p:extLst>
      <p:ext uri="{BB962C8B-B14F-4D97-AF65-F5344CB8AC3E}">
        <p14:creationId xmlns:p14="http://schemas.microsoft.com/office/powerpoint/2010/main" val="4098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FEC6-DFCF-C4A8-24DB-C6595A04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03 · MONGODB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Un pedido = un documento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A09AB-F213-4956-8534-DB8BCAE6B74B}"/>
              </a:ext>
            </a:extLst>
          </p:cNvPr>
          <p:cNvSpPr/>
          <p:nvPr/>
        </p:nvSpPr>
        <p:spPr>
          <a:xfrm>
            <a:off x="508000" y="1905000"/>
            <a:ext cx="5842000" cy="4572000"/>
          </a:xfrm>
          <a:prstGeom prst="rect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F3058-F6BA-45C8-B4C4-0FEC2461DF36}"/>
              </a:ext>
            </a:extLst>
          </p:cNvPr>
          <p:cNvSpPr txBox="1"/>
          <p:nvPr/>
        </p:nvSpPr>
        <p:spPr>
          <a:xfrm>
            <a:off x="711200" y="2057400"/>
            <a:ext cx="546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B8924A"/>
                </a:solidFill>
                <a:latin typeface="Consolas"/>
              </a:rPr>
              <a:t>db.pedidos.findOne()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B932C-FDC5-4E46-9BA5-D8A05FBECEAC}"/>
              </a:ext>
            </a:extLst>
          </p:cNvPr>
          <p:cNvSpPr txBox="1"/>
          <p:nvPr/>
        </p:nvSpPr>
        <p:spPr>
          <a:xfrm>
            <a:off x="711200" y="2438400"/>
            <a:ext cx="5461000" cy="393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E8E2D5"/>
                </a:solidFill>
                <a:latin typeface="Consolas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8FB8E0"/>
                </a:solidFill>
                <a:latin typeface="Consolas"/>
              </a:rPr>
              <a:t>  "_id": "e481f51c...",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8FB8E0"/>
                </a:solidFill>
                <a:latin typeface="Consolas"/>
              </a:rPr>
              <a:t>  "estado_pedido": "delivered",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B8924A"/>
                </a:solidFill>
                <a:latin typeface="Consolas"/>
              </a:rPr>
              <a:t>  "cliente":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8FB8E0"/>
                </a:solidFill>
                <a:latin typeface="Consolas"/>
              </a:rPr>
              <a:t>    "ciudad": "sao paulo",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8FB8E0"/>
                </a:solidFill>
                <a:latin typeface="Consolas"/>
              </a:rPr>
              <a:t>    "estado": "SP"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B8924A"/>
                </a:solidFill>
                <a:latin typeface="Consolas"/>
              </a:rPr>
              <a:t>  "producto":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8FB8E0"/>
                </a:solidFill>
                <a:latin typeface="Consolas"/>
              </a:rPr>
              <a:t>    "categoria": "cama_mesa_banho",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F5A9A9"/>
                </a:solidFill>
                <a:latin typeface="Consolas"/>
              </a:rPr>
              <a:t>    "peso_g": 2400,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F5A9A9"/>
                </a:solidFill>
                <a:latin typeface="Consolas"/>
              </a:rPr>
              <a:t>    "volumen_cm3": 17836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B8924A"/>
                </a:solidFill>
                <a:latin typeface="Consolas"/>
              </a:rPr>
              <a:t>  "entrega":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F5A9A9"/>
                </a:solidFill>
                <a:latin typeface="Consolas"/>
              </a:rPr>
              <a:t>    "dias_prometidos": 15,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F5A9A9"/>
                </a:solidFill>
                <a:latin typeface="Consolas"/>
              </a:rPr>
              <a:t>    "dias_reales": 10,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F5A9A9"/>
                </a:solidFill>
                <a:latin typeface="Consolas"/>
              </a:rPr>
              <a:t>    "tarde": false },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B8924A"/>
                </a:solidFill>
                <a:latin typeface="Consolas"/>
              </a:rPr>
              <a:t>  "reseña": 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F5A9A9"/>
                </a:solidFill>
                <a:latin typeface="Consolas"/>
              </a:rPr>
              <a:t>    "score": 4 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100">
                <a:solidFill>
                  <a:srgbClr val="E8E2D5"/>
                </a:solidFill>
                <a:latin typeface="Consolas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2688F-D830-44F7-9E53-03B398968B44}"/>
              </a:ext>
            </a:extLst>
          </p:cNvPr>
          <p:cNvSpPr/>
          <p:nvPr/>
        </p:nvSpPr>
        <p:spPr>
          <a:xfrm>
            <a:off x="6731000" y="1905000"/>
            <a:ext cx="4953000" cy="177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B9A20-431B-47E0-82C8-1484F6CB1A7E}"/>
              </a:ext>
            </a:extLst>
          </p:cNvPr>
          <p:cNvSpPr txBox="1"/>
          <p:nvPr/>
        </p:nvSpPr>
        <p:spPr>
          <a:xfrm>
            <a:off x="6985000" y="2095500"/>
            <a:ext cx="4445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8B2A2A"/>
                </a:solidFill>
              </a:rPr>
              <a:t>INDICADORES DE LA COLECCIÓN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1A2332"/>
                </a:solidFill>
              </a:rPr>
              <a:t>96 470</a:t>
            </a:r>
            <a:r>
              <a:rPr lang="es-ES" sz="1400">
                <a:solidFill>
                  <a:srgbClr val="1A2332"/>
                </a:solidFill>
              </a:rPr>
              <a:t>  documentos totales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4A7355"/>
                </a:solidFill>
              </a:rPr>
              <a:t>88 644</a:t>
            </a:r>
            <a:r>
              <a:rPr lang="es-ES" sz="1400">
                <a:solidFill>
                  <a:srgbClr val="1A2332"/>
                </a:solidFill>
              </a:rPr>
              <a:t>  a tiempo (91.9%)</a:t>
            </a:r>
          </a:p>
          <a:p>
            <a:pPr marL="0" indent="0">
              <a:buNone/>
            </a:pPr>
            <a:r>
              <a:rPr lang="es-ES" sz="1400" b="1">
                <a:solidFill>
                  <a:srgbClr val="8B2A2A"/>
                </a:solidFill>
              </a:rPr>
              <a:t>7 826</a:t>
            </a:r>
            <a:r>
              <a:rPr lang="es-ES" sz="1400">
                <a:solidFill>
                  <a:srgbClr val="1A2332"/>
                </a:solidFill>
              </a:rPr>
              <a:t>  tardíos (8.1%)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E3540F-FEE6-4495-93ED-76DBE7BA145F}"/>
              </a:ext>
            </a:extLst>
          </p:cNvPr>
          <p:cNvSpPr/>
          <p:nvPr/>
        </p:nvSpPr>
        <p:spPr>
          <a:xfrm>
            <a:off x="6731000" y="3873500"/>
            <a:ext cx="4953000" cy="2603500"/>
          </a:xfrm>
          <a:prstGeom prst="rect">
            <a:avLst/>
          </a:prstGeom>
          <a:solidFill>
            <a:srgbClr val="F5F0E8"/>
          </a:solidFill>
          <a:ln w="12700" cap="flat" cmpd="sng" algn="ctr">
            <a:solidFill>
              <a:srgbClr val="B892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AFCF1-403C-4195-8AC5-0F1A9C306A35}"/>
              </a:ext>
            </a:extLst>
          </p:cNvPr>
          <p:cNvSpPr txBox="1"/>
          <p:nvPr/>
        </p:nvSpPr>
        <p:spPr>
          <a:xfrm>
            <a:off x="6985000" y="4064000"/>
            <a:ext cx="4445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8B2A2A"/>
                </a:solidFill>
              </a:rPr>
              <a:t>6 CONSULTAS DE ANÁLISIS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Conteo a tiempo vs. tardío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Top 10 estados con más retrasos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Score promedio por categoría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Pedidos problemáticos (tarde &amp; score ≤ 2)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Distribución de días reales ($bucket)</a:t>
            </a:r>
          </a:p>
          <a:p>
            <a:pPr marL="171450" indent="-171450">
              <a:buFont typeface="Arial"/>
              <a:buChar char="•"/>
            </a:pPr>
            <a:r>
              <a:rPr lang="es-ES" sz="1300">
                <a:solidFill>
                  <a:srgbClr val="1A2332"/>
                </a:solidFill>
              </a:rPr>
              <a:t>Vendedores con mayor tasa de retraso</a:t>
            </a:r>
          </a:p>
        </p:txBody>
      </p:sp>
    </p:spTree>
    <p:extLst>
      <p:ext uri="{BB962C8B-B14F-4D97-AF65-F5344CB8AC3E}">
        <p14:creationId xmlns:p14="http://schemas.microsoft.com/office/powerpoint/2010/main" val="373151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8A62-A9F4-4F92-D56D-CC184E5A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04 · MODELO PREDICTIVO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Especificaciones y features de entrada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2F5DB6-DC38-44F5-8E0B-0557CD51D2C5}"/>
              </a:ext>
            </a:extLst>
          </p:cNvPr>
          <p:cNvSpPr/>
          <p:nvPr/>
        </p:nvSpPr>
        <p:spPr>
          <a:xfrm>
            <a:off x="508000" y="1905000"/>
            <a:ext cx="4826000" cy="4572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2C4A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357D5-99F7-4431-9DB8-8E5D2D6D3EEA}"/>
              </a:ext>
            </a:extLst>
          </p:cNvPr>
          <p:cNvSpPr txBox="1"/>
          <p:nvPr/>
        </p:nvSpPr>
        <p:spPr>
          <a:xfrm>
            <a:off x="762000" y="2095500"/>
            <a:ext cx="43180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s-ES" sz="1200" b="1">
                <a:solidFill>
                  <a:srgbClr val="8B2A2A"/>
                </a:solidFill>
              </a:rPr>
              <a:t>HIPERPARÁMETROS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3C5A7C"/>
                </a:solidFill>
              </a:rPr>
              <a:t>ALGORITMO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b="1">
                <a:solidFill>
                  <a:srgbClr val="1A2332"/>
                </a:solidFill>
              </a:rPr>
              <a:t>Random Forest Classifier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3C5A7C"/>
                </a:solidFill>
              </a:rPr>
              <a:t>TARGET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b="1">
                <a:solidFill>
                  <a:srgbClr val="1A2332"/>
                </a:solidFill>
              </a:rPr>
              <a:t>entrega.tarde · binario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3C5A7C"/>
                </a:solidFill>
              </a:rPr>
              <a:t>DATASET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b="1">
                <a:solidFill>
                  <a:srgbClr val="1A2332"/>
                </a:solidFill>
              </a:rPr>
              <a:t>96 470 pedidos (Mongo)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3C5A7C"/>
                </a:solidFill>
              </a:rPr>
              <a:t>SPLIT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b="1">
                <a:solidFill>
                  <a:srgbClr val="1A2332"/>
                </a:solidFill>
              </a:rPr>
              <a:t>80 / 20 estratificado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3C5A7C"/>
                </a:solidFill>
              </a:rPr>
              <a:t>class_weight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b="1">
                <a:solidFill>
                  <a:srgbClr val="1A2332"/>
                </a:solidFill>
              </a:rPr>
              <a:t>'balanced' → corrige 8.1%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s-ES" sz="1200" b="1">
                <a:solidFill>
                  <a:srgbClr val="3C5A7C"/>
                </a:solidFill>
              </a:rPr>
              <a:t>max_depth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b="1">
                <a:solidFill>
                  <a:srgbClr val="1A2332"/>
                </a:solidFill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5BC6B-7481-4D33-97EF-CAA60ED188AD}"/>
              </a:ext>
            </a:extLst>
          </p:cNvPr>
          <p:cNvSpPr/>
          <p:nvPr/>
        </p:nvSpPr>
        <p:spPr>
          <a:xfrm>
            <a:off x="5715000" y="1905000"/>
            <a:ext cx="5969000" cy="4572000"/>
          </a:xfrm>
          <a:prstGeom prst="rect">
            <a:avLst/>
          </a:prstGeom>
          <a:solidFill>
            <a:srgbClr val="F5F0E8"/>
          </a:solidFill>
          <a:ln w="12700" cap="flat" cmpd="sng" algn="ctr">
            <a:solidFill>
              <a:srgbClr val="B8924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59E36-E288-439F-B95B-2716C5373396}"/>
              </a:ext>
            </a:extLst>
          </p:cNvPr>
          <p:cNvSpPr txBox="1"/>
          <p:nvPr/>
        </p:nvSpPr>
        <p:spPr>
          <a:xfrm>
            <a:off x="5969000" y="2095500"/>
            <a:ext cx="54610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ES" sz="1200" b="1">
                <a:solidFill>
                  <a:srgbClr val="8B2A2A"/>
                </a:solidFill>
              </a:rPr>
              <a:t>10 FEATURES DE ENTRADA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dias_prometidos</a:t>
            </a:r>
            <a:r>
              <a:rPr lang="es-ES" sz="1200">
                <a:solidFill>
                  <a:srgbClr val="3C5A7C"/>
                </a:solidFill>
              </a:rPr>
              <a:t>   · num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pago_valor</a:t>
            </a:r>
            <a:r>
              <a:rPr lang="es-ES" sz="1200">
                <a:solidFill>
                  <a:srgbClr val="3C5A7C"/>
                </a:solidFill>
              </a:rPr>
              <a:t>   · num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pago_cuotas</a:t>
            </a:r>
            <a:r>
              <a:rPr lang="es-ES" sz="1200">
                <a:solidFill>
                  <a:srgbClr val="3C5A7C"/>
                </a:solidFill>
              </a:rPr>
              <a:t>   · num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peso_g</a:t>
            </a:r>
            <a:r>
              <a:rPr lang="es-ES" sz="1200">
                <a:solidFill>
                  <a:srgbClr val="3C5A7C"/>
                </a:solidFill>
              </a:rPr>
              <a:t>   · num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volumen_cm3</a:t>
            </a:r>
            <a:r>
              <a:rPr lang="es-ES" sz="1200">
                <a:solidFill>
                  <a:srgbClr val="3C5A7C"/>
                </a:solidFill>
              </a:rPr>
              <a:t>   · num  · calculado en ETL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review_score</a:t>
            </a:r>
            <a:r>
              <a:rPr lang="es-ES" sz="1200">
                <a:solidFill>
                  <a:srgbClr val="3C5A7C"/>
                </a:solidFill>
              </a:rPr>
              <a:t>   · num  · imputado 0 si nulo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estado_cliente</a:t>
            </a:r>
            <a:r>
              <a:rPr lang="es-ES" sz="1200">
                <a:solidFill>
                  <a:srgbClr val="3C5A7C"/>
                </a:solidFill>
              </a:rPr>
              <a:t>   · cat  · LabelEncoder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estado_vendedor</a:t>
            </a:r>
            <a:r>
              <a:rPr lang="es-ES" sz="1200">
                <a:solidFill>
                  <a:srgbClr val="3C5A7C"/>
                </a:solidFill>
              </a:rPr>
              <a:t>   · cat  · LabelEncoder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categoria_producto</a:t>
            </a:r>
            <a:r>
              <a:rPr lang="es-ES" sz="1200">
                <a:solidFill>
                  <a:srgbClr val="3C5A7C"/>
                </a:solidFill>
              </a:rPr>
              <a:t>   · cat  · LabelEncoder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s-ES" sz="1300" b="1">
                <a:solidFill>
                  <a:srgbClr val="1A2332"/>
                </a:solidFill>
                <a:latin typeface="Consolas"/>
              </a:rPr>
              <a:t>tipo_pago</a:t>
            </a:r>
            <a:r>
              <a:rPr lang="es-ES" sz="1200">
                <a:solidFill>
                  <a:srgbClr val="3C5A7C"/>
                </a:solidFill>
              </a:rPr>
              <a:t>   · cat  · LabelEncoder</a:t>
            </a:r>
          </a:p>
        </p:txBody>
      </p:sp>
    </p:spTree>
    <p:extLst>
      <p:ext uri="{BB962C8B-B14F-4D97-AF65-F5344CB8AC3E}">
        <p14:creationId xmlns:p14="http://schemas.microsoft.com/office/powerpoint/2010/main" val="77038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99C9-A52C-907D-58F1-92B8B087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04 · RESULTADOS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Métricas e importancia de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A371F7-01C0-43E4-A435-6EF7984EECFF}"/>
              </a:ext>
            </a:extLst>
          </p:cNvPr>
          <p:cNvSpPr/>
          <p:nvPr/>
        </p:nvSpPr>
        <p:spPr>
          <a:xfrm>
            <a:off x="533400" y="1905000"/>
            <a:ext cx="2667000" cy="76200"/>
          </a:xfrm>
          <a:prstGeom prst="rect">
            <a:avLst/>
          </a:prstGeom>
          <a:solidFill>
            <a:srgbClr val="2C4A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FA3E0-EACF-410C-88CE-15F064076A80}"/>
              </a:ext>
            </a:extLst>
          </p:cNvPr>
          <p:cNvSpPr/>
          <p:nvPr/>
        </p:nvSpPr>
        <p:spPr>
          <a:xfrm>
            <a:off x="533400" y="1981200"/>
            <a:ext cx="2667000" cy="1574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63471-1645-4568-BE92-22993A085304}"/>
              </a:ext>
            </a:extLst>
          </p:cNvPr>
          <p:cNvSpPr txBox="1"/>
          <p:nvPr/>
        </p:nvSpPr>
        <p:spPr>
          <a:xfrm>
            <a:off x="685800" y="2108200"/>
            <a:ext cx="2362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2C4A6B"/>
                </a:solidFill>
                <a:latin typeface="Georgia"/>
              </a:rPr>
              <a:t>0.86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343EB-EA65-4B82-AF40-0DB8FB5C3842}"/>
              </a:ext>
            </a:extLst>
          </p:cNvPr>
          <p:cNvSpPr txBox="1"/>
          <p:nvPr/>
        </p:nvSpPr>
        <p:spPr>
          <a:xfrm>
            <a:off x="685800" y="2768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A2332"/>
                </a:solidFill>
              </a:rPr>
              <a:t>Accuracy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4ACFB-EF95-4AF2-8052-F08DA5FB9CD5}"/>
              </a:ext>
            </a:extLst>
          </p:cNvPr>
          <p:cNvSpPr txBox="1"/>
          <p:nvPr/>
        </p:nvSpPr>
        <p:spPr>
          <a:xfrm>
            <a:off x="685800" y="3098800"/>
            <a:ext cx="2362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3C5A7C"/>
                </a:solidFill>
              </a:rPr>
              <a:t>86% clasificados correctamente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75086E-7573-4F38-AA5A-172C6A3E2E10}"/>
              </a:ext>
            </a:extLst>
          </p:cNvPr>
          <p:cNvSpPr/>
          <p:nvPr/>
        </p:nvSpPr>
        <p:spPr>
          <a:xfrm>
            <a:off x="3352800" y="1905000"/>
            <a:ext cx="2667000" cy="76200"/>
          </a:xfrm>
          <a:prstGeom prst="rect">
            <a:avLst/>
          </a:prstGeom>
          <a:solidFill>
            <a:srgbClr val="4A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1F2573-6B75-483B-98A7-230D63881B20}"/>
              </a:ext>
            </a:extLst>
          </p:cNvPr>
          <p:cNvSpPr/>
          <p:nvPr/>
        </p:nvSpPr>
        <p:spPr>
          <a:xfrm>
            <a:off x="3352800" y="1981200"/>
            <a:ext cx="2667000" cy="1574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15C68-622C-47FC-8386-BA05BB4D481C}"/>
              </a:ext>
            </a:extLst>
          </p:cNvPr>
          <p:cNvSpPr txBox="1"/>
          <p:nvPr/>
        </p:nvSpPr>
        <p:spPr>
          <a:xfrm>
            <a:off x="3505200" y="2108200"/>
            <a:ext cx="2362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4A7355"/>
                </a:solidFill>
                <a:latin typeface="Georgia"/>
              </a:rPr>
              <a:t>0.83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4DC8A-C283-486B-9B36-44683A79A755}"/>
              </a:ext>
            </a:extLst>
          </p:cNvPr>
          <p:cNvSpPr txBox="1"/>
          <p:nvPr/>
        </p:nvSpPr>
        <p:spPr>
          <a:xfrm>
            <a:off x="3505200" y="2768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A2332"/>
                </a:solidFill>
              </a:rPr>
              <a:t>ROC-AUC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31E33-A7D1-496D-A09D-2E871A373EDE}"/>
              </a:ext>
            </a:extLst>
          </p:cNvPr>
          <p:cNvSpPr txBox="1"/>
          <p:nvPr/>
        </p:nvSpPr>
        <p:spPr>
          <a:xfrm>
            <a:off x="3505200" y="3098800"/>
            <a:ext cx="2362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3C5A7C"/>
                </a:solidFill>
              </a:rPr>
              <a:t>buena capacidad discriminativa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0BA538-8925-42D0-A8B4-1FE7DA9432F9}"/>
              </a:ext>
            </a:extLst>
          </p:cNvPr>
          <p:cNvSpPr/>
          <p:nvPr/>
        </p:nvSpPr>
        <p:spPr>
          <a:xfrm>
            <a:off x="6172200" y="1905000"/>
            <a:ext cx="2667000" cy="76200"/>
          </a:xfrm>
          <a:prstGeom prst="rect">
            <a:avLst/>
          </a:prstGeom>
          <a:solidFill>
            <a:srgbClr val="B89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22BC0-CC07-4ACA-B95F-905380E4093D}"/>
              </a:ext>
            </a:extLst>
          </p:cNvPr>
          <p:cNvSpPr/>
          <p:nvPr/>
        </p:nvSpPr>
        <p:spPr>
          <a:xfrm>
            <a:off x="6172200" y="1981200"/>
            <a:ext cx="2667000" cy="1574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CEA78-0DDE-41F5-825C-3397B6C4B10F}"/>
              </a:ext>
            </a:extLst>
          </p:cNvPr>
          <p:cNvSpPr txBox="1"/>
          <p:nvPr/>
        </p:nvSpPr>
        <p:spPr>
          <a:xfrm>
            <a:off x="6324600" y="2108200"/>
            <a:ext cx="2362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B8924A"/>
                </a:solidFill>
                <a:latin typeface="Georgia"/>
              </a:rPr>
              <a:t>0.61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DE6093-C02A-46D0-A839-EBE53171B96A}"/>
              </a:ext>
            </a:extLst>
          </p:cNvPr>
          <p:cNvSpPr txBox="1"/>
          <p:nvPr/>
        </p:nvSpPr>
        <p:spPr>
          <a:xfrm>
            <a:off x="6324600" y="2768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A2332"/>
                </a:solidFill>
              </a:rPr>
              <a:t>Recall (tardío)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9F995D-FDEB-4EAD-B756-7A5326808445}"/>
              </a:ext>
            </a:extLst>
          </p:cNvPr>
          <p:cNvSpPr txBox="1"/>
          <p:nvPr/>
        </p:nvSpPr>
        <p:spPr>
          <a:xfrm>
            <a:off x="6324600" y="3098800"/>
            <a:ext cx="2362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3C5A7C"/>
                </a:solidFill>
              </a:rPr>
              <a:t>detecta 6 de cada 10 retrasos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59FB8C-E15B-4FA3-83AC-6C269DC4C0C0}"/>
              </a:ext>
            </a:extLst>
          </p:cNvPr>
          <p:cNvSpPr/>
          <p:nvPr/>
        </p:nvSpPr>
        <p:spPr>
          <a:xfrm>
            <a:off x="8991600" y="1905000"/>
            <a:ext cx="2667000" cy="76200"/>
          </a:xfrm>
          <a:prstGeom prst="rect">
            <a:avLst/>
          </a:prstGeom>
          <a:solidFill>
            <a:srgbClr val="8B2A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2760DD-F398-4C09-9BB3-63FDEFC9619C}"/>
              </a:ext>
            </a:extLst>
          </p:cNvPr>
          <p:cNvSpPr/>
          <p:nvPr/>
        </p:nvSpPr>
        <p:spPr>
          <a:xfrm>
            <a:off x="8991600" y="1981200"/>
            <a:ext cx="2667000" cy="1574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8E2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E294C5-9BEC-46F0-B3C5-5A990CC79099}"/>
              </a:ext>
            </a:extLst>
          </p:cNvPr>
          <p:cNvSpPr txBox="1"/>
          <p:nvPr/>
        </p:nvSpPr>
        <p:spPr>
          <a:xfrm>
            <a:off x="9144000" y="2108200"/>
            <a:ext cx="2362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>
                <a:solidFill>
                  <a:srgbClr val="8B2A2A"/>
                </a:solidFill>
                <a:latin typeface="Georgia"/>
              </a:rPr>
              <a:t>0.42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8385A4-7B70-4CBD-A683-0AD09E6A26D2}"/>
              </a:ext>
            </a:extLst>
          </p:cNvPr>
          <p:cNvSpPr txBox="1"/>
          <p:nvPr/>
        </p:nvSpPr>
        <p:spPr>
          <a:xfrm>
            <a:off x="9144000" y="2768600"/>
            <a:ext cx="236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A2332"/>
                </a:solidFill>
              </a:rPr>
              <a:t>F1 (tardío)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81F402-0FB6-41AC-BCFB-5FFF70E343C5}"/>
              </a:ext>
            </a:extLst>
          </p:cNvPr>
          <p:cNvSpPr txBox="1"/>
          <p:nvPr/>
        </p:nvSpPr>
        <p:spPr>
          <a:xfrm>
            <a:off x="9144000" y="3098800"/>
            <a:ext cx="2362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3C5A7C"/>
                </a:solidFill>
              </a:rPr>
              <a:t>balance precision/recall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1016000" y="3746500"/>
          <a:ext cx="10160000" cy="273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7007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EDEF-D0E1-0238-5E40-2A10D260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s-ES" sz="1200" b="1">
                <a:solidFill>
                  <a:srgbClr val="8B2A2A"/>
                </a:solidFill>
              </a:rPr>
              <a:t>05 · DISCUSIÓN</a:t>
            </a:r>
          </a:p>
          <a:p>
            <a:pPr>
              <a:buNone/>
            </a:pPr>
            <a:r>
              <a:rPr lang="es-ES" sz="3200" b="1">
                <a:solidFill>
                  <a:srgbClr val="1A2332"/>
                </a:solidFill>
              </a:rPr>
              <a:t>Limitaciones y mejoras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0275A4-8715-4B3C-9CAD-07E210B68E96}"/>
              </a:ext>
            </a:extLst>
          </p:cNvPr>
          <p:cNvSpPr/>
          <p:nvPr/>
        </p:nvSpPr>
        <p:spPr>
          <a:xfrm>
            <a:off x="508000" y="1905000"/>
            <a:ext cx="4826000" cy="4572000"/>
          </a:xfrm>
          <a:prstGeom prst="rect">
            <a:avLst/>
          </a:prstGeom>
          <a:solidFill>
            <a:srgbClr val="1A23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CDE2D-4EDA-4126-B4E0-BFFE24001602}"/>
              </a:ext>
            </a:extLst>
          </p:cNvPr>
          <p:cNvSpPr txBox="1"/>
          <p:nvPr/>
        </p:nvSpPr>
        <p:spPr>
          <a:xfrm>
            <a:off x="762000" y="2032000"/>
            <a:ext cx="101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7200" b="1">
                <a:solidFill>
                  <a:srgbClr val="B8924A"/>
                </a:solidFill>
                <a:latin typeface="Georgia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0A8DB-1E93-4E6E-BA2B-A52E96FE82BE}"/>
              </a:ext>
            </a:extLst>
          </p:cNvPr>
          <p:cNvSpPr txBox="1"/>
          <p:nvPr/>
        </p:nvSpPr>
        <p:spPr>
          <a:xfrm>
            <a:off x="762000" y="2921000"/>
            <a:ext cx="4318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ES" sz="1100" b="1">
                <a:solidFill>
                  <a:srgbClr val="B8924A"/>
                </a:solidFill>
              </a:rPr>
              <a:t>LA LÍMITACIÓN CLAVE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s-ES" sz="1500" i="1">
                <a:solidFill>
                  <a:srgbClr val="FAF7F2"/>
                </a:solidFill>
                <a:latin typeface="Georgia"/>
              </a:rPr>
              <a:t>review_score domina con 0.545 de importancia, pero la reseña se genera </a:t>
            </a:r>
            <a:r>
              <a:rPr lang="es-ES" sz="1500" b="1" i="1">
                <a:solidFill>
                  <a:srgbClr val="B8924A"/>
                </a:solidFill>
                <a:latin typeface="Georgia"/>
              </a:rPr>
              <a:t>después</a:t>
            </a:r>
            <a:r>
              <a:rPr lang="es-ES" sz="1500" i="1">
                <a:solidFill>
                  <a:srgbClr val="FAF7F2"/>
                </a:solidFill>
                <a:latin typeface="Georgia"/>
              </a:rPr>
              <a:t> de la entrega.</a:t>
            </a:r>
          </a:p>
          <a:p>
            <a:pPr marL="0" indent="0">
              <a:buNone/>
            </a:pPr>
            <a:r>
              <a:rPr lang="es-ES" sz="1300">
                <a:solidFill>
                  <a:srgbClr val="E8E2D5"/>
                </a:solidFill>
              </a:rPr>
              <a:t>En producción es </a:t>
            </a:r>
            <a:r>
              <a:rPr lang="es-ES" sz="1300" b="1">
                <a:solidFill>
                  <a:srgbClr val="FAF7F2"/>
                </a:solidFill>
              </a:rPr>
              <a:t>data leakage</a:t>
            </a:r>
            <a:r>
              <a:rPr lang="es-ES" sz="1300">
                <a:solidFill>
                  <a:srgbClr val="E8E2D5"/>
                </a:solidFill>
              </a:rPr>
              <a:t> → debe excluirse para predicción pre-entrega.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DC9E5-D10D-41BE-BB3D-DE7C22F6D08D}"/>
              </a:ext>
            </a:extLst>
          </p:cNvPr>
          <p:cNvSpPr txBox="1"/>
          <p:nvPr/>
        </p:nvSpPr>
        <p:spPr>
          <a:xfrm>
            <a:off x="5715000" y="1905000"/>
            <a:ext cx="5969000" cy="457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ES" sz="1200" b="1">
                <a:solidFill>
                  <a:srgbClr val="8B2A2A"/>
                </a:solidFill>
              </a:rPr>
              <a:t>PRÓXIMOS PASOS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1A2332"/>
                </a:solidFill>
              </a:rPr>
              <a:t>Probar XGBoost / LightGBM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Mejor manejo de desbalance que Random Forest.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1A2332"/>
                </a:solidFill>
              </a:rPr>
              <a:t>Ajustar umbral de clasificación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Subir recall a costa de precision según costo del negocio.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1A2332"/>
                </a:solidFill>
              </a:rPr>
              <a:t>Features temporales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Día de semana, mes → capturar estacionalidad (Black Friday).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1A2332"/>
                </a:solidFill>
              </a:rPr>
              <a:t>Datos logísticos externos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Distancia real, capacidad del transportista.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s-ES" sz="1400" b="1">
                <a:solidFill>
                  <a:srgbClr val="1A2332"/>
                </a:solidFill>
              </a:rPr>
              <a:t>Pipeline orquestado (Airflow)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s-ES" sz="1300">
                <a:solidFill>
                  <a:srgbClr val="3C5A7C"/>
                </a:solidFill>
              </a:rPr>
              <a:t>Automatizar ETL diario y reentrenamiento periódico.</a:t>
            </a:r>
          </a:p>
        </p:txBody>
      </p:sp>
    </p:spTree>
    <p:extLst>
      <p:ext uri="{BB962C8B-B14F-4D97-AF65-F5344CB8AC3E}">
        <p14:creationId xmlns:p14="http://schemas.microsoft.com/office/powerpoint/2010/main" val="2370025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531612055]">
  <a:themeElements>
    <a:clrScheme name="Office">
      <a:dk1>
        <a:srgbClr val="1A2332"/>
      </a:dk1>
      <a:lt1>
        <a:srgbClr val="FAF7F2"/>
      </a:lt1>
      <a:dk2>
        <a:srgbClr val="3C5A7C"/>
      </a:dk2>
      <a:lt2>
        <a:srgbClr val="E8E2D5"/>
      </a:lt2>
      <a:accent1>
        <a:srgbClr val="8B2A2A"/>
      </a:accent1>
      <a:accent2>
        <a:srgbClr val="2C4A6B"/>
      </a:accent2>
      <a:accent3>
        <a:srgbClr val="B8924A"/>
      </a:accent3>
      <a:accent4>
        <a:srgbClr val="4A7355"/>
      </a:accent4>
      <a:accent5>
        <a:srgbClr val="6B4226"/>
      </a:accent5>
      <a:accent6>
        <a:srgbClr val="5C5470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520B48-D01D-4ED4-B3AE-CE27BC01555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7d85ad2-2901-4f1e-93fe-c4d2aeb26d9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1028</Words>
  <Application>Microsoft Office PowerPoint</Application>
  <PresentationFormat>Widescreen</PresentationFormat>
  <Paragraphs>226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 [1780531612055]</vt:lpstr>
      <vt:lpstr>PROYECTO FINAL DataFlow Pipeline</vt:lpstr>
      <vt:lpstr>Agenda</vt:lpstr>
      <vt:lpstr>01 · CONTEXTO ¿Llegará este pedido tarde?</vt:lpstr>
      <vt:lpstr>ARQUITECTURA El pipeline de extremo a extremo</vt:lpstr>
      <vt:lpstr>02 · SQL Modelo relacional · 6 tablas en PostgreSQL</vt:lpstr>
      <vt:lpstr>02 · SQL MER y modelo relacional</vt:lpstr>
      <vt:lpstr>02 · ETL Tres secciones · del CSV al documento</vt:lpstr>
      <vt:lpstr>03 · MONGODB Un pedido = un documento</vt:lpstr>
      <vt:lpstr>04 · MODELO PREDICTIVO Especificaciones y features de entrada</vt:lpstr>
      <vt:lpstr>04 · RESULTADOS Métricas e importancia de features</vt:lpstr>
      <vt:lpstr>05 · DISCUSIÓN Limitaciones y mejoras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ALFONSO ARCINIEGAS BETANCOURT</dc:creator>
  <cp:lastModifiedBy>NICOLAS ALFONSO ARCINIEGAS BETANCOURT</cp:lastModifiedBy>
  <cp:revision>2</cp:revision>
  <dcterms:created xsi:type="dcterms:W3CDTF">2026-06-04T00:06:51Z</dcterms:created>
  <dcterms:modified xsi:type="dcterms:W3CDTF">2026-06-04T00:29:23Z</dcterms:modified>
</cp:coreProperties>
</file>